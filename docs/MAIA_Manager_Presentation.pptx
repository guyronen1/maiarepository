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-182880"/>
            <a:ext cx="411480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D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Monitoring &amp; Auto-Healing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Monitoring Assistant for Intelligent Operations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310128"/>
            <a:ext cx="41148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 ·  May 2026  ·  Version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3A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600200"/>
          </a:xfrm>
          <a:prstGeom prst="rect">
            <a:avLst/>
          </a:prstGeom>
          <a:solidFill>
            <a:srgbClr val="FFF8F8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64008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1737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Manual Scanning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0756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review large log files manually — failures go unnoticed for hours, causing costly downtime.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206240" cy="1600200"/>
          </a:xfrm>
          <a:prstGeom prst="rect">
            <a:avLst/>
          </a:prstGeom>
          <a:solidFill>
            <a:srgbClr val="FFF8F8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64008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19472" y="1737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Consistent Classification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0756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is diagnosed from scratch. No shared taxonomy, no learning from past incidents.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206240" cy="1600200"/>
          </a:xfrm>
          <a:prstGeom prst="rect">
            <a:avLst/>
          </a:prstGeom>
          <a:solidFill>
            <a:srgbClr val="FFF8F8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64008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8912" y="3520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8587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are applied manually with no record of what was done, by whom, or whether it worked.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206240" cy="1600200"/>
          </a:xfrm>
          <a:prstGeom prst="rect">
            <a:avLst/>
          </a:prstGeom>
          <a:solidFill>
            <a:srgbClr val="FFF8F8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17520"/>
            <a:ext cx="64008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19472" y="3520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Failures Not Learned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38587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errors are fixed repeatedly. There is no mechanism to automate known fixes.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3A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watches your pipelines, understands what went wrong, and either fixes it automatically or tells the operator exactly what to 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868680" cy="8686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627632" y="1993392"/>
            <a:ext cx="402336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606040"/>
            <a:ext cx="1508760" cy="1234440"/>
          </a:xfrm>
          <a:prstGeom prst="rect">
            <a:avLst/>
          </a:prstGeom>
          <a:solidFill>
            <a:srgbClr val="132435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51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999232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logs, 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APIs every 60s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600200"/>
            <a:ext cx="868680" cy="86868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64992" y="1993392"/>
            <a:ext cx="402336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2606040"/>
            <a:ext cx="1508760" cy="1234440"/>
          </a:xfrm>
          <a:prstGeom prst="rect">
            <a:avLst/>
          </a:prstGeom>
          <a:solidFill>
            <a:srgbClr val="132435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651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2999232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new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events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06240" y="1600200"/>
            <a:ext cx="868680" cy="8686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102352" y="1993392"/>
            <a:ext cx="402336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86200" y="2606040"/>
            <a:ext cx="1508760" cy="1234440"/>
          </a:xfrm>
          <a:prstGeom prst="rect">
            <a:avLst/>
          </a:prstGeom>
          <a:solidFill>
            <a:srgbClr val="132435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2651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86200" y="2999232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 error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known types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1600200"/>
            <a:ext cx="868680" cy="86868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839712" y="1993392"/>
            <a:ext cx="402336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2606040"/>
            <a:ext cx="1508760" cy="1234440"/>
          </a:xfrm>
          <a:prstGeom prst="rect">
            <a:avLst/>
          </a:prstGeom>
          <a:solidFill>
            <a:srgbClr val="132435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2651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2999232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fix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80960" y="1600200"/>
            <a:ext cx="868680" cy="8686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360920" y="2606040"/>
            <a:ext cx="1508760" cy="1234440"/>
          </a:xfrm>
          <a:prstGeom prst="rect">
            <a:avLst/>
          </a:prstGeom>
          <a:solidFill>
            <a:srgbClr val="132435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2651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Auto-Heal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60920" y="2999232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fix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 are recorded in an immutable Audit Log. Operators retain full control at every step.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Benefits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6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3337560"/>
          </a:xfrm>
          <a:prstGeom prst="rect">
            <a:avLst/>
          </a:prstGeom>
          <a:solidFill>
            <a:srgbClr val="EBF5FB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92024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hours of manual log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188720"/>
            <a:ext cx="1920240" cy="3337560"/>
          </a:xfrm>
          <a:prstGeom prst="rect">
            <a:avLst/>
          </a:prstGeom>
          <a:solidFill>
            <a:srgbClr val="E8F8F5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188720"/>
            <a:ext cx="1920240" cy="1645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46304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450592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Manual Fixes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3108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configurable auto-heal rules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188720"/>
            <a:ext cx="1920240" cy="3337560"/>
          </a:xfrm>
          <a:prstGeom prst="rect">
            <a:avLst/>
          </a:prstGeom>
          <a:solidFill>
            <a:srgbClr val="EAFAF1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188720"/>
            <a:ext cx="192024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46304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626864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Coverage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3108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recorded immutably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1188720"/>
            <a:ext cx="1920240" cy="3337560"/>
          </a:xfrm>
          <a:prstGeom prst="rect">
            <a:avLst/>
          </a:prstGeom>
          <a:solidFill>
            <a:srgbClr val="F5EEF8"/>
          </a:solidFill>
          <a:ln w="254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188720"/>
            <a:ext cx="1920240" cy="1645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46304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A1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803136" y="2606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Access Needed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4576" y="3108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config through the web UI only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3A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Operator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3677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36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6184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Alert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819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failure appears with severity &amp; job name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5486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7685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76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258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Failure Detail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4597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 type, step name &amp; AI suggestion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24328"/>
            <a:ext cx="5486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1693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16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28986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Recommendation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099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fix with a confidence score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64408"/>
            <a:ext cx="5486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55701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538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Auto-Heal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739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fixes it now or automates it forever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904488"/>
            <a:ext cx="5486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19709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197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41788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&amp; Logged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4379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updated automatically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1097280"/>
            <a:ext cx="4572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Auto-Heal Flow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1636776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636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93208" y="1618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scans every 60 seconds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93208" y="1819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FileSystem, Database, or API endpoint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1984248"/>
            <a:ext cx="5486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276856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276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93208" y="2258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matched to ClassificationRule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93208" y="2459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 → JobType + ErrorType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2624328"/>
            <a:ext cx="5486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916936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916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93208" y="28986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Policy found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93208" y="3099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 action for this error type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3264408"/>
            <a:ext cx="5486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557016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93208" y="3538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executed automatically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93208" y="3739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call, stored procedure, or script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00600" y="3904488"/>
            <a:ext cx="5486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4197096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4197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93208" y="4178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resolved &amp; audit logged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93208" y="4379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action required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3A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16916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698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3 Scan Modes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1435608"/>
            <a:ext cx="2468880" cy="27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File System log scanning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856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Database table checks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2037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endpoint monitoring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97480" cy="16916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698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AI Classification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64408" y="1435608"/>
            <a:ext cx="2468880" cy="27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Regex-based rule 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1856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Per-job rule overrides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64408" y="22037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Confidence scoring (0–100%)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960120"/>
            <a:ext cx="2697480" cy="16916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0698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Fix Execution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44768" y="1435608"/>
            <a:ext cx="2468880" cy="27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HTTP API call executor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44768" y="1856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Stored procedure runner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22037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Script executor (120s timeout)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697480" cy="16916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944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Operator Dashboard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84048" y="3310128"/>
            <a:ext cx="2468880" cy="27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Failures &amp; recommendations UI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3730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Operator action history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40782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configuration UI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2834640"/>
            <a:ext cx="2697480" cy="16916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2944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Auto-Heal Engine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264408" y="3310128"/>
            <a:ext cx="2468880" cy="27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Runs every 60 seconds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64408" y="3730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Zero human intervention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64408" y="40782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Configurable per error type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2834640"/>
            <a:ext cx="2697480" cy="1691640"/>
          </a:xfrm>
          <a:prstGeom prst="rect">
            <a:avLst/>
          </a:prstGeom>
          <a:solidFill>
            <a:srgbClr val="1324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2944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Audit &amp; Compliance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44768" y="3310128"/>
            <a:ext cx="2468880" cy="2743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Immutable append-only log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44768" y="3730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Every action timestamped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40782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traceability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Status &amp;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3A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Built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069080" cy="365760"/>
          </a:xfrm>
          <a:prstGeom prst="rect">
            <a:avLst/>
          </a:prstGeom>
          <a:solidFill>
            <a:srgbClr val="F1FFF4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910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monitoring scan strategies (FS, DB, API)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4069080" cy="365760"/>
          </a:xfrm>
          <a:prstGeom prst="rect">
            <a:avLst/>
          </a:prstGeom>
          <a:solidFill>
            <a:srgbClr val="F1FFF4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29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classification engine with confidence scoring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50592"/>
            <a:ext cx="4069080" cy="365760"/>
          </a:xfrm>
          <a:prstGeom prst="rect">
            <a:avLst/>
          </a:prstGeom>
          <a:solidFill>
            <a:srgbClr val="F1FFF4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68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fix execution engine (API, SP, Script, Manual)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89504"/>
            <a:ext cx="4069080" cy="365760"/>
          </a:xfrm>
          <a:prstGeom prst="rect">
            <a:avLst/>
          </a:prstGeom>
          <a:solidFill>
            <a:srgbClr val="F1FFF4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077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Operator dashboard — failures &amp; recommendations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328416"/>
            <a:ext cx="4069080" cy="365760"/>
          </a:xfrm>
          <a:prstGeom prst="rect">
            <a:avLst/>
          </a:prstGeom>
          <a:solidFill>
            <a:srgbClr val="F1FFF4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467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Audit log &amp; fix execution logging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767328"/>
            <a:ext cx="4069080" cy="365760"/>
          </a:xfrm>
          <a:prstGeom prst="rect">
            <a:avLst/>
          </a:prstGeom>
          <a:solidFill>
            <a:srgbClr val="FFFBF0"/>
          </a:solidFill>
          <a:ln w="10160">
            <a:solidFill>
              <a:srgbClr val="FFE0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856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Configuration UI (monitored jobs, rules) — in progress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206240"/>
            <a:ext cx="4069080" cy="365760"/>
          </a:xfrm>
          <a:prstGeom prst="rect">
            <a:avLst/>
          </a:prstGeom>
          <a:solidFill>
            <a:srgbClr val="FFFBF0"/>
          </a:solidFill>
          <a:ln w="10160">
            <a:solidFill>
              <a:srgbClr val="FFE0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245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Auto-heal toggle on recommendations UI — in progress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1097280"/>
            <a:ext cx="4572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Priorities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9160" y="1572768"/>
            <a:ext cx="4069080" cy="502920"/>
          </a:xfrm>
          <a:prstGeom prst="rect">
            <a:avLst/>
          </a:prstGeom>
          <a:solidFill>
            <a:srgbClr val="F0F4F8"/>
          </a:solidFill>
          <a:ln w="10160">
            <a:solidFill>
              <a:srgbClr val="D0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572768"/>
            <a:ext cx="4572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5727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0368" y="1618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MonitoredJob CRUD UI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18470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167128"/>
            <a:ext cx="4069080" cy="502920"/>
          </a:xfrm>
          <a:prstGeom prst="rect">
            <a:avLst/>
          </a:prstGeom>
          <a:solidFill>
            <a:srgbClr val="F0F4F8"/>
          </a:solidFill>
          <a:ln w="10160">
            <a:solidFill>
              <a:srgbClr val="D0D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167128"/>
            <a:ext cx="4572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1671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30368" y="2212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ScanCheckRules config UI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24414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761488"/>
            <a:ext cx="4069080" cy="502920"/>
          </a:xfrm>
          <a:prstGeom prst="rect">
            <a:avLst/>
          </a:prstGeom>
          <a:solidFill>
            <a:srgbClr val="F0F4F8"/>
          </a:solidFill>
          <a:ln w="10160">
            <a:solidFill>
              <a:srgbClr val="D0D8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761488"/>
            <a:ext cx="457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7614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0368" y="2807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ClassificationRules UI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0368" y="3035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3355848"/>
            <a:ext cx="4069080" cy="502920"/>
          </a:xfrm>
          <a:prstGeom prst="rect">
            <a:avLst/>
          </a:prstGeom>
          <a:solidFill>
            <a:srgbClr val="F0F4F8"/>
          </a:solidFill>
          <a:ln w="10160">
            <a:solidFill>
              <a:srgbClr val="D0D8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355848"/>
            <a:ext cx="457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355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30368" y="3401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Auto-heal toggle on recs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30368" y="3630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3950208"/>
            <a:ext cx="4069080" cy="502920"/>
          </a:xfrm>
          <a:prstGeom prst="rect">
            <a:avLst/>
          </a:prstGeom>
          <a:solidFill>
            <a:srgbClr val="F0F4F8"/>
          </a:solidFill>
          <a:ln w="10160">
            <a:solidFill>
              <a:srgbClr val="D0D8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3950208"/>
            <a:ext cx="457200" cy="5029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9502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30368" y="3995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FixPolicyRules config UI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0368" y="4224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MAIA?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6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20040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Without MAIA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1097280"/>
            <a:ext cx="502920" cy="41148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097280"/>
            <a:ext cx="45720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097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 MAIA 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8549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6733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Hours to detect failures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1655064"/>
            <a:ext cx="685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600200"/>
            <a:ext cx="6400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6733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Seconds — automated scanning every 60s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130552"/>
            <a:ext cx="8549640" cy="475488"/>
          </a:xfrm>
          <a:prstGeom prst="rect">
            <a:avLst/>
          </a:prstGeom>
          <a:solidFill>
            <a:srgbClr val="F8FAFB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2037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log file review daily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66160" y="2185416"/>
            <a:ext cx="685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2130552"/>
            <a:ext cx="6400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220370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shows failures instantly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660904"/>
            <a:ext cx="8549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7340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failure classification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66160" y="2715768"/>
            <a:ext cx="685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2660904"/>
            <a:ext cx="6400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273405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classifies by JobType + ErrorType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191256"/>
            <a:ext cx="8549640" cy="475488"/>
          </a:xfrm>
          <a:prstGeom prst="rect">
            <a:avLst/>
          </a:prstGeom>
          <a:solidFill>
            <a:srgbClr val="F8FAFB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2644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fix every time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66160" y="3246120"/>
            <a:ext cx="685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51960" y="3191256"/>
            <a:ext cx="6400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326440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Auto-heal runs approved fixes automatically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3721608"/>
            <a:ext cx="8549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7947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fix records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66160" y="3776472"/>
            <a:ext cx="685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51960" y="3721608"/>
            <a:ext cx="6400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37947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Immutable audit log for every action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8549640" cy="475488"/>
          </a:xfrm>
          <a:prstGeom prst="rect">
            <a:avLst/>
          </a:prstGeom>
          <a:solidFill>
            <a:srgbClr val="F8FAFB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3251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Config requires DB access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566160" y="4306824"/>
            <a:ext cx="6858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51960" y="4251960"/>
            <a:ext cx="6400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43251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self-service config UI — no DB needed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3A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1691640"/>
          </a:xfrm>
          <a:prstGeom prst="rect">
            <a:avLst/>
          </a:prstGeom>
          <a:solidFill>
            <a:srgbClr val="132435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8580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08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Config UI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MonitoredJob, ScanCheckRules and ClassificationRules configuration screens so admins can manage everything through the browser.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60520" cy="1691640"/>
          </a:xfrm>
          <a:prstGeom prst="rect">
            <a:avLst/>
          </a:prstGeom>
          <a:solidFill>
            <a:srgbClr val="132435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6858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058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04688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408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Auto-Heal Toggle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auto-heal toggle on the Recommendations screen, allowing operators to automate recurring fixes with a single click.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60520" cy="1691640"/>
          </a:xfrm>
          <a:prstGeom prst="rect">
            <a:avLst/>
          </a:prstGeom>
          <a:solidFill>
            <a:srgbClr val="132435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685800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260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328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Rollout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MAIA to the production environment. Onboard the operations team with the Operator Onboarding Guide and a live walkthrough session.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4160520" cy="1691640"/>
          </a:xfrm>
          <a:prstGeom prst="rect">
            <a:avLst/>
          </a:prstGeom>
          <a:solidFill>
            <a:srgbClr val="132435"/>
          </a:solidFill>
          <a:ln w="254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26080"/>
            <a:ext cx="685800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9260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04688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328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Job Coverage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92040" y="3703320"/>
            <a:ext cx="3886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Incrementally add all active DTSX/SSIS pipelines to MAIA monitoring. Target full coverage of the pipeline estate.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8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spc="1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MAIA</a:t>
            </a:r>
            <a:endParaRPr lang="en-US" sz="8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Monitoring &amp; Auto-Healing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450592"/>
            <a:ext cx="4572000" cy="45720"/>
          </a:xfrm>
          <a:prstGeom prst="rect">
            <a:avLst/>
          </a:prstGeom>
          <a:solidFill>
            <a:srgbClr val="80CBC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566160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17920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Access Needed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MAIA — Manager Presentation</dc:title>
  <dc:subject>PptxGenJS Presentation</dc:subject>
  <dc:creator>PptxGenJS</dc:creator>
  <cp:lastModifiedBy>PptxGenJS</cp:lastModifiedBy>
  <cp:revision>1</cp:revision>
  <dcterms:created xsi:type="dcterms:W3CDTF">2026-05-08T11:32:51Z</dcterms:created>
  <dcterms:modified xsi:type="dcterms:W3CDTF">2026-05-08T11:32:51Z</dcterms:modified>
</cp:coreProperties>
</file>