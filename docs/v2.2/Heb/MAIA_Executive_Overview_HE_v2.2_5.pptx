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1.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1.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C2B3A"/>
        </a:solidFill>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0D7377"/>
          </a:solidFill>
          <a:ln/>
        </p:spPr>
      </p:sp>
      <p:sp>
        <p:nvSpPr>
          <p:cNvPr id="3" name="Shape 1"/>
          <p:cNvSpPr/>
          <p:nvPr/>
        </p:nvSpPr>
        <p:spPr>
          <a:xfrm>
            <a:off x="4114800" y="0"/>
            <a:ext cx="5029200" cy="411480"/>
          </a:xfrm>
          <a:prstGeom prst="rect">
            <a:avLst/>
          </a:prstGeom>
          <a:solidFill>
            <a:srgbClr val="1B5E5E"/>
          </a:solidFill>
          <a:ln/>
        </p:spPr>
      </p:sp>
      <p:sp>
        <p:nvSpPr>
          <p:cNvPr id="4" name="Text 2"/>
          <p:cNvSpPr/>
          <p:nvPr/>
        </p:nvSpPr>
        <p:spPr>
          <a:xfrm>
            <a:off x="2286000" y="2286000"/>
            <a:ext cx="4572000" cy="2743200"/>
          </a:xfrm>
          <a:prstGeom prst="rect">
            <a:avLst/>
          </a:prstGeom>
          <a:noFill/>
          <a:ln/>
        </p:spPr>
        <p:txBody>
          <a:bodyPr wrap="square" rtlCol="0" anchor="ctr"/>
          <a:lstStyle/>
          <a:p>
            <a:pPr algn="ctr" indent="0" marL="0">
              <a:buNone/>
            </a:pPr>
            <a:r>
              <a:rPr lang="en-US" sz="20000" dirty="0">
                <a:solidFill>
                  <a:srgbClr val="243545"/>
                </a:solidFill>
                <a:latin typeface="Arial Black" pitchFamily="34" charset="0"/>
                <a:ea typeface="Arial Black" pitchFamily="34" charset="-122"/>
                <a:cs typeface="Arial Black" pitchFamily="34" charset="-120"/>
              </a:rPr>
              <a:t>M</a:t>
            </a:r>
            <a:endParaRPr lang="en-US" sz="20000" dirty="0"/>
          </a:p>
        </p:txBody>
      </p:sp>
      <p:sp>
        <p:nvSpPr>
          <p:cNvPr id="5" name="Shape 3"/>
          <p:cNvSpPr/>
          <p:nvPr/>
        </p:nvSpPr>
        <p:spPr>
          <a:xfrm>
            <a:off x="731520" y="3840480"/>
            <a:ext cx="7680960" cy="0"/>
          </a:xfrm>
          <a:prstGeom prst="line">
            <a:avLst/>
          </a:prstGeom>
          <a:noFill/>
          <a:ln w="31750">
            <a:solidFill>
              <a:srgbClr val="2196F3"/>
            </a:solidFill>
            <a:prstDash val="solid"/>
          </a:ln>
        </p:spPr>
      </p:sp>
      <p:sp>
        <p:nvSpPr>
          <p:cNvPr id="6" name="Text 4"/>
          <p:cNvSpPr/>
          <p:nvPr/>
        </p:nvSpPr>
        <p:spPr>
          <a:xfrm>
            <a:off x="457200" y="1097280"/>
            <a:ext cx="8229600" cy="914400"/>
          </a:xfrm>
          <a:prstGeom prst="rect">
            <a:avLst/>
          </a:prstGeom>
          <a:noFill/>
          <a:ln/>
        </p:spPr>
        <p:txBody>
          <a:bodyPr wrap="square" rtlCol="0" anchor="ctr"/>
          <a:lstStyle/>
          <a:p>
            <a:pPr algn="ctr" indent="0" marL="0">
              <a:buNone/>
            </a:pPr>
            <a:r>
              <a:rPr lang="en-US" sz="5400" dirty="0">
                <a:solidFill>
                  <a:srgbClr val="FFFFFF"/>
                </a:solidFill>
                <a:latin typeface="Arial Black" pitchFamily="34" charset="0"/>
                <a:ea typeface="Arial Black" pitchFamily="34" charset="-122"/>
                <a:cs typeface="Arial Black" pitchFamily="34" charset="-120"/>
              </a:rPr>
              <a:t>MAIA</a:t>
            </a:r>
            <a:endParaRPr lang="en-US" sz="5400" dirty="0"/>
          </a:p>
        </p:txBody>
      </p:sp>
      <p:sp>
        <p:nvSpPr>
          <p:cNvPr id="7" name="Text 5"/>
          <p:cNvSpPr/>
          <p:nvPr/>
        </p:nvSpPr>
        <p:spPr>
          <a:xfrm>
            <a:off x="457200" y="1920240"/>
            <a:ext cx="8229600" cy="457200"/>
          </a:xfrm>
          <a:prstGeom prst="rect">
            <a:avLst/>
          </a:prstGeom>
          <a:noFill/>
          <a:ln/>
        </p:spPr>
        <p:txBody>
          <a:bodyPr wrap="square" rtlCol="0" anchor="ctr"/>
          <a:lstStyle/>
          <a:p>
            <a:pPr rtl="1" algn="ctr" indent="0" marL="0">
              <a:buNone/>
            </a:pPr>
            <a:r>
              <a:rPr lang="en-US" sz="1800" b="1" dirty="0">
                <a:solidFill>
                  <a:srgbClr val="3B9EC9"/>
                </a:solidFill>
                <a:latin typeface="Calibri" pitchFamily="34" charset="0"/>
                <a:ea typeface="Calibri" pitchFamily="34" charset="-122"/>
                <a:cs typeface="Calibri" pitchFamily="34" charset="-120"/>
              </a:rPr>
              <a:t>Monitoring Assistant &amp; Intelligent Automation</a:t>
            </a:r>
            <a:endParaRPr lang="en-US" sz="1800" dirty="0"/>
          </a:p>
        </p:txBody>
      </p:sp>
      <p:sp>
        <p:nvSpPr>
          <p:cNvPr id="8" name="Text 6"/>
          <p:cNvSpPr/>
          <p:nvPr/>
        </p:nvSpPr>
        <p:spPr>
          <a:xfrm>
            <a:off x="457200" y="2377440"/>
            <a:ext cx="8229600" cy="365760"/>
          </a:xfrm>
          <a:prstGeom prst="rect">
            <a:avLst/>
          </a:prstGeom>
          <a:noFill/>
          <a:ln/>
        </p:spPr>
        <p:txBody>
          <a:bodyPr wrap="square" rtlCol="0" anchor="ctr"/>
          <a:lstStyle/>
          <a:p>
            <a:pPr rtl="1" algn="ctr" indent="0" marL="0">
              <a:buNone/>
            </a:pPr>
            <a:r>
              <a:rPr lang="en-US" sz="1200" i="1" dirty="0">
                <a:solidFill>
                  <a:srgbClr val="2ABFB3"/>
                </a:solidFill>
                <a:latin typeface="Calibri" pitchFamily="34" charset="0"/>
                <a:ea typeface="Calibri" pitchFamily="34" charset="-122"/>
                <a:cs typeface="Calibri" pitchFamily="34" charset="-120"/>
              </a:rPr>
              <a:t>פלטפורמת ניטור חכם ותיקון אוטומטי</a:t>
            </a:r>
            <a:endParaRPr lang="en-US" sz="1200" dirty="0"/>
          </a:p>
        </p:txBody>
      </p:sp>
      <p:sp>
        <p:nvSpPr>
          <p:cNvPr id="9" name="Text 7"/>
          <p:cNvSpPr/>
          <p:nvPr/>
        </p:nvSpPr>
        <p:spPr>
          <a:xfrm>
            <a:off x="457200" y="2834640"/>
            <a:ext cx="8229600" cy="320040"/>
          </a:xfrm>
          <a:prstGeom prst="rect">
            <a:avLst/>
          </a:prstGeom>
          <a:noFill/>
          <a:ln/>
        </p:spPr>
        <p:txBody>
          <a:bodyPr wrap="square" rtlCol="0" anchor="ctr"/>
          <a:lstStyle/>
          <a:p>
            <a:pPr rtl="1" algn="ctr" indent="0" marL="0">
              <a:buNone/>
            </a:pPr>
            <a:r>
              <a:rPr lang="en-US" sz="1300" i="1" dirty="0">
                <a:solidFill>
                  <a:srgbClr val="94A3B8"/>
                </a:solidFill>
                <a:latin typeface="Calibri" pitchFamily="34" charset="0"/>
                <a:ea typeface="Calibri" pitchFamily="34" charset="-122"/>
                <a:cs typeface="Calibri" pitchFamily="34" charset="-120"/>
              </a:rPr>
              <a:t>סקירה למנהלים</a:t>
            </a:r>
            <a:endParaRPr lang="en-US" sz="1300" dirty="0"/>
          </a:p>
        </p:txBody>
      </p:sp>
      <p:sp>
        <p:nvSpPr>
          <p:cNvPr id="10" name="Text 8"/>
          <p:cNvSpPr/>
          <p:nvPr/>
        </p:nvSpPr>
        <p:spPr>
          <a:xfrm>
            <a:off x="457200" y="3200400"/>
            <a:ext cx="8229600" cy="274320"/>
          </a:xfrm>
          <a:prstGeom prst="rect">
            <a:avLst/>
          </a:prstGeom>
          <a:noFill/>
          <a:ln/>
        </p:spPr>
        <p:txBody>
          <a:bodyPr wrap="square" rtlCol="0" anchor="ctr"/>
          <a:lstStyle/>
          <a:p>
            <a:pPr rtl="1" algn="ctr" indent="0" marL="0">
              <a:buNone/>
            </a:pPr>
            <a:r>
              <a:rPr lang="en-US" sz="1100" dirty="0">
                <a:solidFill>
                  <a:srgbClr val="6B7B8B"/>
                </a:solidFill>
                <a:latin typeface="Calibri" pitchFamily="34" charset="0"/>
                <a:ea typeface="Calibri" pitchFamily="34" charset="-122"/>
                <a:cs typeface="Calibri" pitchFamily="34" charset="-120"/>
              </a:rPr>
              <a:t>גרסה 2.2 · יולי 2026</a:t>
            </a:r>
            <a:endParaRPr lang="en-US" sz="1100" dirty="0"/>
          </a:p>
        </p:txBody>
      </p:sp>
      <p:sp>
        <p:nvSpPr>
          <p:cNvPr id="11" name="Shape 9"/>
          <p:cNvSpPr/>
          <p:nvPr/>
        </p:nvSpPr>
        <p:spPr>
          <a:xfrm>
            <a:off x="0" y="4389120"/>
            <a:ext cx="9144000" cy="754380"/>
          </a:xfrm>
          <a:prstGeom prst="rect">
            <a:avLst/>
          </a:prstGeom>
          <a:solidFill>
            <a:srgbClr val="0F1A2E"/>
          </a:solidFill>
          <a:ln/>
        </p:spPr>
      </p:sp>
      <p:sp>
        <p:nvSpPr>
          <p:cNvPr id="12" name="Text 10"/>
          <p:cNvSpPr/>
          <p:nvPr/>
        </p:nvSpPr>
        <p:spPr>
          <a:xfrm>
            <a:off x="457200" y="4617720"/>
            <a:ext cx="8229600" cy="274320"/>
          </a:xfrm>
          <a:prstGeom prst="rect">
            <a:avLst/>
          </a:prstGeom>
          <a:noFill/>
          <a:ln/>
        </p:spPr>
        <p:txBody>
          <a:bodyPr wrap="square" rtlCol="0" anchor="ctr"/>
          <a:lstStyle/>
          <a:p>
            <a:pPr rtl="1" algn="ctr" indent="0" marL="0">
              <a:buNone/>
            </a:pPr>
            <a:r>
              <a:rPr lang="en-US" sz="900" i="1" dirty="0">
                <a:solidFill>
                  <a:srgbClr val="6B7B8B"/>
                </a:solidFill>
                <a:latin typeface="Calibri" pitchFamily="34" charset="0"/>
                <a:ea typeface="Calibri" pitchFamily="34" charset="-122"/>
                <a:cs typeface="Calibri" pitchFamily="34" charset="-120"/>
              </a:rPr>
              <a:t>סודי — לשימוש פנימי בלבד</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rtlCol="0" anchor="ctr"/>
          <a:lstStyle/>
          <a:p>
            <a:pPr rtl="1" algn="r" indent="0" marL="0">
              <a:buNone/>
            </a:pPr>
            <a:r>
              <a:rPr lang="en-US" sz="2800" b="1" dirty="0">
                <a:solidFill>
                  <a:srgbClr val="1C2B3A"/>
                </a:solidFill>
                <a:latin typeface="Calibri" pitchFamily="34" charset="0"/>
                <a:ea typeface="Calibri" pitchFamily="34" charset="-122"/>
                <a:cs typeface="Calibri" pitchFamily="34" charset="-120"/>
              </a:rPr>
              <a:t>מה זה MAIA?</a:t>
            </a:r>
            <a:endParaRPr lang="en-US" sz="2800" dirty="0"/>
          </a:p>
        </p:txBody>
      </p:sp>
      <p:sp>
        <p:nvSpPr>
          <p:cNvPr id="3" name="Text 1"/>
          <p:cNvSpPr/>
          <p:nvPr/>
        </p:nvSpPr>
        <p:spPr>
          <a:xfrm>
            <a:off x="457200" y="914400"/>
            <a:ext cx="8229600" cy="1097280"/>
          </a:xfrm>
          <a:prstGeom prst="rect">
            <a:avLst/>
          </a:prstGeom>
          <a:noFill/>
          <a:ln/>
        </p:spPr>
        <p:txBody>
          <a:bodyPr wrap="square" rtlCol="0" anchor="t"/>
          <a:lstStyle/>
          <a:p>
            <a:pPr rtl="1" algn="r" indent="0" marL="0">
              <a:buNone/>
            </a:pPr>
            <a:r>
              <a:rPr lang="en-US" sz="1200" dirty="0">
                <a:solidFill>
                  <a:srgbClr val="475569"/>
                </a:solidFill>
                <a:latin typeface="Calibri" pitchFamily="34" charset="0"/>
                <a:ea typeface="Calibri" pitchFamily="34" charset="-122"/>
                <a:cs typeface="Calibri" pitchFamily="34" charset="-120"/>
              </a:rPr>
              <a:t>MAIA (Monitoring Assistant &amp; Intelligent Automation) היא פלטפורמת אוטומציה חכמה מבוססת כללים שמנטרת את תהליכי הנתונים שלכם 24/7, מזהה תקלות מיידית, מסווגת אותן אוטומטית, ומתקנת בעיות ידועות ללא התערבות אנושית — או מנחה את המפעיל בדיוק מה לעשות.</a:t>
            </a:r>
            <a:endParaRPr lang="en-US" sz="1200" dirty="0"/>
          </a:p>
          <a:p>
            <a:pPr rtl="1" algn="r" indent="0" marL="0">
              <a:buNone/>
            </a:pPr>
            <a:endParaRPr lang="en-US" sz="1200" dirty="0"/>
          </a:p>
          <a:p>
            <a:pPr rtl="1" algn="r" indent="0" marL="0">
              <a:buNone/>
            </a:pPr>
            <a:r>
              <a:rPr lang="en-US" sz="1200" dirty="0">
                <a:solidFill>
                  <a:srgbClr val="475569"/>
                </a:solidFill>
                <a:latin typeface="Calibri" pitchFamily="34" charset="0"/>
                <a:ea typeface="Calibri" pitchFamily="34" charset="-122"/>
                <a:cs typeface="Calibri" pitchFamily="34" charset="-120"/>
              </a:rPr>
              <a:t>MAIA מנטרת כל סוג עבודה — חבילות DTSX, תהליכי EXE, שירותי Windows, או כל מערכת שניתן לסרוק את שגיאותיה מקבצי לוג, טבלאות DB, נקודות קצה API, או תוכן קבצים מובנה. המערכת כוללת אימות מובנה (3 רמות תפקידים), יומן ביקורת בלתי ניתן לשינוי, ועובדת ללא חיבור לאינטרנט.</a:t>
            </a:r>
            <a:endParaRPr lang="en-US" sz="1200" dirty="0"/>
          </a:p>
        </p:txBody>
      </p:sp>
      <p:sp>
        <p:nvSpPr>
          <p:cNvPr id="4" name="Shape 2"/>
          <p:cNvSpPr/>
          <p:nvPr/>
        </p:nvSpPr>
        <p:spPr>
          <a:xfrm>
            <a:off x="457200" y="2286000"/>
            <a:ext cx="1920240" cy="1828800"/>
          </a:xfrm>
          <a:prstGeom prst="rect">
            <a:avLst/>
          </a:prstGeom>
          <a:solidFill>
            <a:srgbClr val="2563EB"/>
          </a:solidFill>
          <a:ln/>
          <a:effectLst>
            <a:outerShdw sx="100000" sy="100000" kx="0" ky="0" algn="bl" rotWithShape="0" blurRad="76200" dist="25400" dir="8100000">
              <a:srgbClr val="000000">
                <a:alpha val="10000"/>
              </a:srgbClr>
            </a:outerShdw>
          </a:effectLst>
        </p:spPr>
      </p:sp>
      <p:pic>
        <p:nvPicPr>
          <p:cNvPr id="5" name="Image 0" descr="preencoded.png">    </p:cNvPr>
          <p:cNvPicPr>
            <a:picLocks noChangeAspect="1"/>
          </p:cNvPicPr>
          <p:nvPr/>
        </p:nvPicPr>
        <p:blipFill>
          <a:blip r:embed="rId1"/>
          <a:stretch>
            <a:fillRect/>
          </a:stretch>
        </p:blipFill>
        <p:spPr>
          <a:xfrm>
            <a:off x="1143000" y="2468880"/>
            <a:ext cx="548640" cy="548640"/>
          </a:xfrm>
          <a:prstGeom prst="rect">
            <a:avLst/>
          </a:prstGeom>
        </p:spPr>
      </p:pic>
      <p:sp>
        <p:nvSpPr>
          <p:cNvPr id="6" name="Text 3"/>
          <p:cNvSpPr/>
          <p:nvPr/>
        </p:nvSpPr>
        <p:spPr>
          <a:xfrm>
            <a:off x="457200" y="3108960"/>
            <a:ext cx="1920240" cy="320040"/>
          </a:xfrm>
          <a:prstGeom prst="rect">
            <a:avLst/>
          </a:prstGeom>
          <a:noFill/>
          <a:ln/>
        </p:spPr>
        <p:txBody>
          <a:bodyPr wrap="square" rtlCol="0" anchor="ctr"/>
          <a:lstStyle/>
          <a:p>
            <a:pPr rtl="1" algn="ctr" indent="0" marL="0">
              <a:buNone/>
            </a:pPr>
            <a:r>
              <a:rPr lang="en-US" sz="1300" b="1" dirty="0">
                <a:solidFill>
                  <a:srgbClr val="FFFFFF"/>
                </a:solidFill>
                <a:latin typeface="Calibri" pitchFamily="34" charset="0"/>
                <a:ea typeface="Calibri" pitchFamily="34" charset="-122"/>
                <a:cs typeface="Calibri" pitchFamily="34" charset="-120"/>
              </a:rPr>
              <a:t>זיהוי מהיר</a:t>
            </a:r>
            <a:endParaRPr lang="en-US" sz="1300" dirty="0"/>
          </a:p>
        </p:txBody>
      </p:sp>
      <p:sp>
        <p:nvSpPr>
          <p:cNvPr id="7" name="Text 4"/>
          <p:cNvSpPr/>
          <p:nvPr/>
        </p:nvSpPr>
        <p:spPr>
          <a:xfrm>
            <a:off x="548640" y="3474720"/>
            <a:ext cx="1737360" cy="548640"/>
          </a:xfrm>
          <a:prstGeom prst="rect">
            <a:avLst/>
          </a:prstGeom>
          <a:noFill/>
          <a:ln/>
        </p:spPr>
        <p:txBody>
          <a:bodyPr wrap="square" rtlCol="0" anchor="ctr"/>
          <a:lstStyle/>
          <a:p>
            <a:pPr rtl="1" algn="ctr" indent="0" marL="0">
              <a:buNone/>
            </a:pPr>
            <a:r>
              <a:rPr lang="en-US" sz="950" dirty="0">
                <a:solidFill>
                  <a:srgbClr val="FFFFFF"/>
                </a:solidFill>
                <a:latin typeface="Calibri" pitchFamily="34" charset="0"/>
                <a:ea typeface="Calibri" pitchFamily="34" charset="-122"/>
                <a:cs typeface="Calibri" pitchFamily="34" charset="-120"/>
              </a:rPr>
              <a:t>4 סוגי סריקה מזהים תקלות בשניות</a:t>
            </a:r>
            <a:endParaRPr lang="en-US" sz="950" dirty="0"/>
          </a:p>
        </p:txBody>
      </p:sp>
      <p:sp>
        <p:nvSpPr>
          <p:cNvPr id="8" name="Shape 5"/>
          <p:cNvSpPr/>
          <p:nvPr/>
        </p:nvSpPr>
        <p:spPr>
          <a:xfrm>
            <a:off x="2560320" y="2286000"/>
            <a:ext cx="1920240" cy="1828800"/>
          </a:xfrm>
          <a:prstGeom prst="rect">
            <a:avLst/>
          </a:prstGeom>
          <a:solidFill>
            <a:srgbClr val="0D9488"/>
          </a:solidFill>
          <a:ln/>
          <a:effectLst>
            <a:outerShdw sx="100000" sy="100000" kx="0" ky="0" algn="bl" rotWithShape="0" blurRad="76200" dist="25400" dir="8100000">
              <a:srgbClr val="000000">
                <a:alpha val="10000"/>
              </a:srgbClr>
            </a:outerShdw>
          </a:effectLst>
        </p:spPr>
      </p:sp>
      <p:pic>
        <p:nvPicPr>
          <p:cNvPr id="9" name="Image 1" descr="preencoded.png">    </p:cNvPr>
          <p:cNvPicPr>
            <a:picLocks noChangeAspect="1"/>
          </p:cNvPicPr>
          <p:nvPr/>
        </p:nvPicPr>
        <p:blipFill>
          <a:blip r:embed="rId2"/>
          <a:stretch>
            <a:fillRect/>
          </a:stretch>
        </p:blipFill>
        <p:spPr>
          <a:xfrm>
            <a:off x="3246120" y="2468880"/>
            <a:ext cx="548640" cy="548640"/>
          </a:xfrm>
          <a:prstGeom prst="rect">
            <a:avLst/>
          </a:prstGeom>
        </p:spPr>
      </p:pic>
      <p:sp>
        <p:nvSpPr>
          <p:cNvPr id="10" name="Text 6"/>
          <p:cNvSpPr/>
          <p:nvPr/>
        </p:nvSpPr>
        <p:spPr>
          <a:xfrm>
            <a:off x="2560320" y="3108960"/>
            <a:ext cx="1920240" cy="320040"/>
          </a:xfrm>
          <a:prstGeom prst="rect">
            <a:avLst/>
          </a:prstGeom>
          <a:noFill/>
          <a:ln/>
        </p:spPr>
        <p:txBody>
          <a:bodyPr wrap="square" rtlCol="0" anchor="ctr"/>
          <a:lstStyle/>
          <a:p>
            <a:pPr rtl="1" algn="ctr" indent="0" marL="0">
              <a:buNone/>
            </a:pPr>
            <a:r>
              <a:rPr lang="en-US" sz="1300" b="1" dirty="0">
                <a:solidFill>
                  <a:srgbClr val="FFFFFF"/>
                </a:solidFill>
                <a:latin typeface="Calibri" pitchFamily="34" charset="0"/>
                <a:ea typeface="Calibri" pitchFamily="34" charset="-122"/>
                <a:cs typeface="Calibri" pitchFamily="34" charset="-120"/>
              </a:rPr>
              <a:t>פחות עבודה ידנית</a:t>
            </a:r>
            <a:endParaRPr lang="en-US" sz="1300" dirty="0"/>
          </a:p>
        </p:txBody>
      </p:sp>
      <p:sp>
        <p:nvSpPr>
          <p:cNvPr id="11" name="Text 7"/>
          <p:cNvSpPr/>
          <p:nvPr/>
        </p:nvSpPr>
        <p:spPr>
          <a:xfrm>
            <a:off x="2651760" y="3474720"/>
            <a:ext cx="1737360" cy="548640"/>
          </a:xfrm>
          <a:prstGeom prst="rect">
            <a:avLst/>
          </a:prstGeom>
          <a:noFill/>
          <a:ln/>
        </p:spPr>
        <p:txBody>
          <a:bodyPr wrap="square" rtlCol="0" anchor="ctr"/>
          <a:lstStyle/>
          <a:p>
            <a:pPr rtl="1" algn="ctr" indent="0" marL="0">
              <a:buNone/>
            </a:pPr>
            <a:r>
              <a:rPr lang="en-US" sz="950" dirty="0">
                <a:solidFill>
                  <a:srgbClr val="FFFFFF"/>
                </a:solidFill>
                <a:latin typeface="Calibri" pitchFamily="34" charset="0"/>
                <a:ea typeface="Calibri" pitchFamily="34" charset="-122"/>
                <a:cs typeface="Calibri" pitchFamily="34" charset="-120"/>
              </a:rPr>
              <a:t>תיקון אוטומטי + מדיניות מורכבת מבטלים עבודה חוזרת</a:t>
            </a:r>
            <a:endParaRPr lang="en-US" sz="950" dirty="0"/>
          </a:p>
        </p:txBody>
      </p:sp>
      <p:sp>
        <p:nvSpPr>
          <p:cNvPr id="12" name="Shape 8"/>
          <p:cNvSpPr/>
          <p:nvPr/>
        </p:nvSpPr>
        <p:spPr>
          <a:xfrm>
            <a:off x="4663440" y="2286000"/>
            <a:ext cx="1920240" cy="1828800"/>
          </a:xfrm>
          <a:prstGeom prst="rect">
            <a:avLst/>
          </a:prstGeom>
          <a:solidFill>
            <a:srgbClr val="7C3AED"/>
          </a:solidFill>
          <a:ln/>
          <a:effectLst>
            <a:outerShdw sx="100000" sy="100000" kx="0" ky="0" algn="bl" rotWithShape="0" blurRad="76200" dist="25400" dir="8100000">
              <a:srgbClr val="000000">
                <a:alpha val="10000"/>
              </a:srgbClr>
            </a:outerShdw>
          </a:effectLst>
        </p:spPr>
      </p:sp>
      <p:pic>
        <p:nvPicPr>
          <p:cNvPr id="13" name="Image 2" descr="preencoded.png">    </p:cNvPr>
          <p:cNvPicPr>
            <a:picLocks noChangeAspect="1"/>
          </p:cNvPicPr>
          <p:nvPr/>
        </p:nvPicPr>
        <p:blipFill>
          <a:blip r:embed="rId3"/>
          <a:stretch>
            <a:fillRect/>
          </a:stretch>
        </p:blipFill>
        <p:spPr>
          <a:xfrm>
            <a:off x="5349240" y="2468880"/>
            <a:ext cx="548640" cy="548640"/>
          </a:xfrm>
          <a:prstGeom prst="rect">
            <a:avLst/>
          </a:prstGeom>
        </p:spPr>
      </p:pic>
      <p:sp>
        <p:nvSpPr>
          <p:cNvPr id="14" name="Text 9"/>
          <p:cNvSpPr/>
          <p:nvPr/>
        </p:nvSpPr>
        <p:spPr>
          <a:xfrm>
            <a:off x="4663440" y="3108960"/>
            <a:ext cx="1920240" cy="320040"/>
          </a:xfrm>
          <a:prstGeom prst="rect">
            <a:avLst/>
          </a:prstGeom>
          <a:noFill/>
          <a:ln/>
        </p:spPr>
        <p:txBody>
          <a:bodyPr wrap="square" rtlCol="0" anchor="ctr"/>
          <a:lstStyle/>
          <a:p>
            <a:pPr rtl="1" algn="ctr" indent="0" marL="0">
              <a:buNone/>
            </a:pPr>
            <a:r>
              <a:rPr lang="en-US" sz="1300" b="1" dirty="0">
                <a:solidFill>
                  <a:srgbClr val="FFFFFF"/>
                </a:solidFill>
                <a:latin typeface="Calibri" pitchFamily="34" charset="0"/>
                <a:ea typeface="Calibri" pitchFamily="34" charset="-122"/>
                <a:cs typeface="Calibri" pitchFamily="34" charset="-120"/>
              </a:rPr>
              <a:t>מעקב מלא</a:t>
            </a:r>
            <a:endParaRPr lang="en-US" sz="1300" dirty="0"/>
          </a:p>
        </p:txBody>
      </p:sp>
      <p:sp>
        <p:nvSpPr>
          <p:cNvPr id="15" name="Text 10"/>
          <p:cNvSpPr/>
          <p:nvPr/>
        </p:nvSpPr>
        <p:spPr>
          <a:xfrm>
            <a:off x="4754880" y="3474720"/>
            <a:ext cx="1737360" cy="548640"/>
          </a:xfrm>
          <a:prstGeom prst="rect">
            <a:avLst/>
          </a:prstGeom>
          <a:noFill/>
          <a:ln/>
        </p:spPr>
        <p:txBody>
          <a:bodyPr wrap="square" rtlCol="0" anchor="ctr"/>
          <a:lstStyle/>
          <a:p>
            <a:pPr rtl="1" algn="ctr" indent="0" marL="0">
              <a:buNone/>
            </a:pPr>
            <a:r>
              <a:rPr lang="en-US" sz="950" dirty="0">
                <a:solidFill>
                  <a:srgbClr val="FFFFFF"/>
                </a:solidFill>
                <a:latin typeface="Calibri" pitchFamily="34" charset="0"/>
                <a:ea typeface="Calibri" pitchFamily="34" charset="-122"/>
                <a:cs typeface="Calibri" pitchFamily="34" charset="-120"/>
              </a:rPr>
              <a:t>כל פעולה מתועדת — מוכן לביקורת</a:t>
            </a:r>
            <a:endParaRPr lang="en-US" sz="950" dirty="0"/>
          </a:p>
        </p:txBody>
      </p:sp>
      <p:sp>
        <p:nvSpPr>
          <p:cNvPr id="16" name="Shape 11"/>
          <p:cNvSpPr/>
          <p:nvPr/>
        </p:nvSpPr>
        <p:spPr>
          <a:xfrm>
            <a:off x="6766560" y="2286000"/>
            <a:ext cx="1920240" cy="1828800"/>
          </a:xfrm>
          <a:prstGeom prst="rect">
            <a:avLst/>
          </a:prstGeom>
          <a:solidFill>
            <a:srgbClr val="16A34A"/>
          </a:solidFill>
          <a:ln/>
          <a:effectLst>
            <a:outerShdw sx="100000" sy="100000" kx="0" ky="0" algn="bl" rotWithShape="0" blurRad="76200" dist="25400" dir="8100000">
              <a:srgbClr val="000000">
                <a:alpha val="10000"/>
              </a:srgbClr>
            </a:outerShdw>
          </a:effectLst>
        </p:spPr>
      </p:sp>
      <p:pic>
        <p:nvPicPr>
          <p:cNvPr id="17" name="Image 3" descr="preencoded.png">    </p:cNvPr>
          <p:cNvPicPr>
            <a:picLocks noChangeAspect="1"/>
          </p:cNvPicPr>
          <p:nvPr/>
        </p:nvPicPr>
        <p:blipFill>
          <a:blip r:embed="rId4"/>
          <a:stretch>
            <a:fillRect/>
          </a:stretch>
        </p:blipFill>
        <p:spPr>
          <a:xfrm>
            <a:off x="7452360" y="2468880"/>
            <a:ext cx="548640" cy="548640"/>
          </a:xfrm>
          <a:prstGeom prst="rect">
            <a:avLst/>
          </a:prstGeom>
        </p:spPr>
      </p:pic>
      <p:sp>
        <p:nvSpPr>
          <p:cNvPr id="18" name="Text 12"/>
          <p:cNvSpPr/>
          <p:nvPr/>
        </p:nvSpPr>
        <p:spPr>
          <a:xfrm>
            <a:off x="6766560" y="3108960"/>
            <a:ext cx="1920240" cy="320040"/>
          </a:xfrm>
          <a:prstGeom prst="rect">
            <a:avLst/>
          </a:prstGeom>
          <a:noFill/>
          <a:ln/>
        </p:spPr>
        <p:txBody>
          <a:bodyPr wrap="square" rtlCol="0" anchor="ctr"/>
          <a:lstStyle/>
          <a:p>
            <a:pPr rtl="1" algn="ctr" indent="0" marL="0">
              <a:buNone/>
            </a:pPr>
            <a:r>
              <a:rPr lang="en-US" sz="1300" b="1" dirty="0">
                <a:solidFill>
                  <a:srgbClr val="FFFFFF"/>
                </a:solidFill>
                <a:latin typeface="Calibri" pitchFamily="34" charset="0"/>
                <a:ea typeface="Calibri" pitchFamily="34" charset="-122"/>
                <a:cs typeface="Calibri" pitchFamily="34" charset="-120"/>
              </a:rPr>
              <a:t>מאובטח ועצמאי</a:t>
            </a:r>
            <a:endParaRPr lang="en-US" sz="1300" dirty="0"/>
          </a:p>
        </p:txBody>
      </p:sp>
      <p:sp>
        <p:nvSpPr>
          <p:cNvPr id="19" name="Text 13"/>
          <p:cNvSpPr/>
          <p:nvPr/>
        </p:nvSpPr>
        <p:spPr>
          <a:xfrm>
            <a:off x="6858000" y="3474720"/>
            <a:ext cx="1737360" cy="548640"/>
          </a:xfrm>
          <a:prstGeom prst="rect">
            <a:avLst/>
          </a:prstGeom>
          <a:noFill/>
          <a:ln/>
        </p:spPr>
        <p:txBody>
          <a:bodyPr wrap="square" rtlCol="0" anchor="ctr"/>
          <a:lstStyle/>
          <a:p>
            <a:pPr rtl="1" algn="ctr" indent="0" marL="0">
              <a:buNone/>
            </a:pPr>
            <a:r>
              <a:rPr lang="en-US" sz="950" dirty="0">
                <a:solidFill>
                  <a:srgbClr val="FFFFFF"/>
                </a:solidFill>
                <a:latin typeface="Calibri" pitchFamily="34" charset="0"/>
                <a:ea typeface="Calibri" pitchFamily="34" charset="-122"/>
                <a:cs typeface="Calibri" pitchFamily="34" charset="-120"/>
              </a:rPr>
              <a:t>ממשק מבוסס 3 תפקידים — ללא גישה ל-DB</a:t>
            </a:r>
            <a:endParaRPr lang="en-US" sz="950" dirty="0"/>
          </a:p>
        </p:txBody>
      </p:sp>
      <p:sp>
        <p:nvSpPr>
          <p:cNvPr id="20" name="Shape 14"/>
          <p:cNvSpPr/>
          <p:nvPr/>
        </p:nvSpPr>
        <p:spPr>
          <a:xfrm>
            <a:off x="0" y="4800600"/>
            <a:ext cx="9144000" cy="342900"/>
          </a:xfrm>
          <a:prstGeom prst="rect">
            <a:avLst/>
          </a:prstGeom>
          <a:solidFill>
            <a:srgbClr val="1C2B3A"/>
          </a:solidFill>
          <a:ln/>
        </p:spPr>
      </p:sp>
      <p:sp>
        <p:nvSpPr>
          <p:cNvPr id="21" name="Text 15"/>
          <p:cNvSpPr/>
          <p:nvPr/>
        </p:nvSpPr>
        <p:spPr>
          <a:xfrm>
            <a:off x="4572000" y="4828032"/>
            <a:ext cx="4297680" cy="274320"/>
          </a:xfrm>
          <a:prstGeom prst="rect">
            <a:avLst/>
          </a:prstGeom>
          <a:noFill/>
          <a:ln/>
        </p:spPr>
        <p:txBody>
          <a:bodyPr wrap="square" lIns="0" tIns="0" rIns="0" bIns="0" rtlCol="0" anchor="ctr"/>
          <a:lstStyle/>
          <a:p>
            <a:pPr rtl="1" algn="r" indent="0" marL="0">
              <a:buNone/>
            </a:pPr>
            <a:r>
              <a:rPr lang="en-US" sz="800" dirty="0">
                <a:solidFill>
                  <a:srgbClr val="94A3B8"/>
                </a:solidFill>
                <a:latin typeface="Calibri" pitchFamily="34" charset="0"/>
                <a:ea typeface="Calibri" pitchFamily="34" charset="-122"/>
                <a:cs typeface="Calibri" pitchFamily="34" charset="-120"/>
              </a:rPr>
              <a:t>MAIA — סקירה למנהלים</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rtlCol="0" anchor="ctr"/>
          <a:lstStyle/>
          <a:p>
            <a:pPr rtl="1" algn="r" indent="0" marL="0">
              <a:buNone/>
            </a:pPr>
            <a:r>
              <a:rPr lang="en-US" sz="2800" b="1" dirty="0">
                <a:solidFill>
                  <a:srgbClr val="1C2B3A"/>
                </a:solidFill>
                <a:latin typeface="Calibri" pitchFamily="34" charset="0"/>
                <a:ea typeface="Calibri" pitchFamily="34" charset="-122"/>
                <a:cs typeface="Calibri" pitchFamily="34" charset="-120"/>
              </a:rPr>
              <a:t>איך זה עובד</a:t>
            </a:r>
            <a:endParaRPr lang="en-US" sz="2800" dirty="0"/>
          </a:p>
        </p:txBody>
      </p:sp>
      <p:sp>
        <p:nvSpPr>
          <p:cNvPr id="3" name="Text 1"/>
          <p:cNvSpPr/>
          <p:nvPr/>
        </p:nvSpPr>
        <p:spPr>
          <a:xfrm>
            <a:off x="457200" y="822960"/>
            <a:ext cx="8229600" cy="365760"/>
          </a:xfrm>
          <a:prstGeom prst="rect">
            <a:avLst/>
          </a:prstGeom>
          <a:noFill/>
          <a:ln/>
        </p:spPr>
        <p:txBody>
          <a:bodyPr wrap="square" rtlCol="0" anchor="ctr"/>
          <a:lstStyle/>
          <a:p>
            <a:pPr rtl="1" algn="r" indent="0" marL="0">
              <a:buNone/>
            </a:pPr>
            <a:r>
              <a:rPr lang="en-US" sz="1200" dirty="0">
                <a:solidFill>
                  <a:srgbClr val="475569"/>
                </a:solidFill>
                <a:latin typeface="Calibri" pitchFamily="34" charset="0"/>
                <a:ea typeface="Calibri" pitchFamily="34" charset="-122"/>
                <a:cs typeface="Calibri" pitchFamily="34" charset="-120"/>
              </a:rPr>
              <a:t>MAIA מנטרת את התהליכים שלכם, מבינה מה השתבש, ומתקנת אוטומטית או מנחה את המפעיל בדיוק מה לעשות.</a:t>
            </a:r>
            <a:endParaRPr lang="en-US" sz="1200" dirty="0"/>
          </a:p>
        </p:txBody>
      </p:sp>
      <p:sp>
        <p:nvSpPr>
          <p:cNvPr id="4" name="Shape 2"/>
          <p:cNvSpPr/>
          <p:nvPr/>
        </p:nvSpPr>
        <p:spPr>
          <a:xfrm>
            <a:off x="457200" y="1554480"/>
            <a:ext cx="1234440" cy="1554480"/>
          </a:xfrm>
          <a:prstGeom prst="rect">
            <a:avLst/>
          </a:prstGeom>
          <a:solidFill>
            <a:srgbClr val="475569"/>
          </a:solidFill>
          <a:ln/>
          <a:effectLst>
            <a:outerShdw sx="100000" sy="100000" kx="0" ky="0" algn="bl" rotWithShape="0" blurRad="76200" dist="25400" dir="8100000">
              <a:srgbClr val="000000">
                <a:alpha val="10000"/>
              </a:srgbClr>
            </a:outerShdw>
          </a:effectLst>
        </p:spPr>
      </p:sp>
      <p:pic>
        <p:nvPicPr>
          <p:cNvPr id="5" name="Image 0" descr="preencoded.png">    </p:cNvPr>
          <p:cNvPicPr>
            <a:picLocks noChangeAspect="1"/>
          </p:cNvPicPr>
          <p:nvPr/>
        </p:nvPicPr>
        <p:blipFill>
          <a:blip r:embed="rId1"/>
          <a:stretch>
            <a:fillRect/>
          </a:stretch>
        </p:blipFill>
        <p:spPr>
          <a:xfrm>
            <a:off x="891540" y="1691640"/>
            <a:ext cx="365760" cy="365760"/>
          </a:xfrm>
          <a:prstGeom prst="rect">
            <a:avLst/>
          </a:prstGeom>
        </p:spPr>
      </p:pic>
      <p:sp>
        <p:nvSpPr>
          <p:cNvPr id="6" name="Text 3"/>
          <p:cNvSpPr/>
          <p:nvPr/>
        </p:nvSpPr>
        <p:spPr>
          <a:xfrm>
            <a:off x="457200" y="2103120"/>
            <a:ext cx="1234440" cy="457200"/>
          </a:xfrm>
          <a:prstGeom prst="rect">
            <a:avLst/>
          </a:prstGeom>
          <a:noFill/>
          <a:ln/>
        </p:spPr>
        <p:txBody>
          <a:bodyPr wrap="square" rtlCol="0" anchor="ctr"/>
          <a:lstStyle/>
          <a:p>
            <a:pPr rtl="1" algn="ctr" indent="0" marL="0">
              <a:buNone/>
            </a:pPr>
            <a:r>
              <a:rPr lang="en-US" sz="1050" b="1" dirty="0">
                <a:solidFill>
                  <a:srgbClr val="FFFFFF"/>
                </a:solidFill>
                <a:latin typeface="Calibri" pitchFamily="34" charset="0"/>
                <a:ea typeface="Calibri" pitchFamily="34" charset="-122"/>
                <a:cs typeface="Calibri" pitchFamily="34" charset="-120"/>
              </a:rPr>
              <a:t>התהליכים</a:t>
            </a:r>
            <a:endParaRPr lang="en-US" sz="1050" dirty="0"/>
          </a:p>
          <a:p>
            <a:pPr rtl="1" algn="ctr" indent="0" marL="0">
              <a:buNone/>
            </a:pPr>
            <a:r>
              <a:rPr lang="en-US" sz="1050" b="1" dirty="0">
                <a:solidFill>
                  <a:srgbClr val="FFFFFF"/>
                </a:solidFill>
                <a:latin typeface="Calibri" pitchFamily="34" charset="0"/>
                <a:ea typeface="Calibri" pitchFamily="34" charset="-122"/>
                <a:cs typeface="Calibri" pitchFamily="34" charset="-120"/>
              </a:rPr>
              <a:t>שלכם</a:t>
            </a:r>
            <a:endParaRPr lang="en-US" sz="1050" dirty="0"/>
          </a:p>
        </p:txBody>
      </p:sp>
      <p:sp>
        <p:nvSpPr>
          <p:cNvPr id="7" name="Text 4"/>
          <p:cNvSpPr/>
          <p:nvPr/>
        </p:nvSpPr>
        <p:spPr>
          <a:xfrm>
            <a:off x="457200" y="2606040"/>
            <a:ext cx="1234440" cy="365760"/>
          </a:xfrm>
          <a:prstGeom prst="rect">
            <a:avLst/>
          </a:prstGeom>
          <a:noFill/>
          <a:ln/>
        </p:spPr>
        <p:txBody>
          <a:bodyPr wrap="square" rtlCol="0" anchor="ctr"/>
          <a:lstStyle/>
          <a:p>
            <a:pPr rtl="1" algn="ctr" indent="0" marL="0">
              <a:buNone/>
            </a:pPr>
            <a:r>
              <a:rPr lang="en-US" sz="800" dirty="0">
                <a:solidFill>
                  <a:srgbClr val="FFFFFF"/>
                </a:solidFill>
                <a:latin typeface="Calibri" pitchFamily="34" charset="0"/>
                <a:ea typeface="Calibri" pitchFamily="34" charset="-122"/>
                <a:cs typeface="Calibri" pitchFamily="34" charset="-120"/>
              </a:rPr>
              <a:t>DTSX / EXE</a:t>
            </a:r>
            <a:endParaRPr lang="en-US" sz="800" dirty="0"/>
          </a:p>
          <a:p>
            <a:pPr rtl="1" algn="ctr" indent="0" marL="0">
              <a:buNone/>
            </a:pPr>
            <a:r>
              <a:rPr lang="en-US" sz="800" dirty="0">
                <a:solidFill>
                  <a:srgbClr val="FFFFFF"/>
                </a:solidFill>
                <a:latin typeface="Calibri" pitchFamily="34" charset="0"/>
                <a:ea typeface="Calibri" pitchFamily="34" charset="-122"/>
                <a:cs typeface="Calibri" pitchFamily="34" charset="-120"/>
              </a:rPr>
              <a:t>Services</a:t>
            </a:r>
            <a:endParaRPr lang="en-US" sz="800" dirty="0"/>
          </a:p>
        </p:txBody>
      </p:sp>
      <p:sp>
        <p:nvSpPr>
          <p:cNvPr id="8" name="Shape 5"/>
          <p:cNvSpPr/>
          <p:nvPr/>
        </p:nvSpPr>
        <p:spPr>
          <a:xfrm>
            <a:off x="1691640" y="2331720"/>
            <a:ext cx="164592" cy="0"/>
          </a:xfrm>
          <a:prstGeom prst="line">
            <a:avLst/>
          </a:prstGeom>
          <a:noFill/>
          <a:ln w="25400">
            <a:solidFill>
              <a:srgbClr val="94A3B8"/>
            </a:solidFill>
            <a:prstDash val="solid"/>
          </a:ln>
        </p:spPr>
      </p:sp>
      <p:sp>
        <p:nvSpPr>
          <p:cNvPr id="9" name="Shape 6"/>
          <p:cNvSpPr/>
          <p:nvPr/>
        </p:nvSpPr>
        <p:spPr>
          <a:xfrm>
            <a:off x="1856232" y="1554480"/>
            <a:ext cx="1234440" cy="1554480"/>
          </a:xfrm>
          <a:prstGeom prst="rect">
            <a:avLst/>
          </a:prstGeom>
          <a:solidFill>
            <a:srgbClr val="2563EB"/>
          </a:solidFill>
          <a:ln/>
          <a:effectLst>
            <a:outerShdw sx="100000" sy="100000" kx="0" ky="0" algn="bl" rotWithShape="0" blurRad="76200" dist="25400" dir="8100000">
              <a:srgbClr val="000000">
                <a:alpha val="10000"/>
              </a:srgbClr>
            </a:outerShdw>
          </a:effectLst>
        </p:spPr>
      </p:sp>
      <p:pic>
        <p:nvPicPr>
          <p:cNvPr id="10" name="Image 1" descr="preencoded.png">    </p:cNvPr>
          <p:cNvPicPr>
            <a:picLocks noChangeAspect="1"/>
          </p:cNvPicPr>
          <p:nvPr/>
        </p:nvPicPr>
        <p:blipFill>
          <a:blip r:embed="rId2"/>
          <a:stretch>
            <a:fillRect/>
          </a:stretch>
        </p:blipFill>
        <p:spPr>
          <a:xfrm>
            <a:off x="2290572" y="1691640"/>
            <a:ext cx="365760" cy="365760"/>
          </a:xfrm>
          <a:prstGeom prst="rect">
            <a:avLst/>
          </a:prstGeom>
        </p:spPr>
      </p:pic>
      <p:sp>
        <p:nvSpPr>
          <p:cNvPr id="11" name="Text 7"/>
          <p:cNvSpPr/>
          <p:nvPr/>
        </p:nvSpPr>
        <p:spPr>
          <a:xfrm>
            <a:off x="1856232" y="2103120"/>
            <a:ext cx="1234440" cy="457200"/>
          </a:xfrm>
          <a:prstGeom prst="rect">
            <a:avLst/>
          </a:prstGeom>
          <a:noFill/>
          <a:ln/>
        </p:spPr>
        <p:txBody>
          <a:bodyPr wrap="square" rtlCol="0" anchor="ctr"/>
          <a:lstStyle/>
          <a:p>
            <a:pPr rtl="1" algn="ctr" indent="0" marL="0">
              <a:buNone/>
            </a:pPr>
            <a:r>
              <a:rPr lang="en-US" sz="1050" b="1" dirty="0">
                <a:solidFill>
                  <a:srgbClr val="FFFFFF"/>
                </a:solidFill>
                <a:latin typeface="Calibri" pitchFamily="34" charset="0"/>
                <a:ea typeface="Calibri" pitchFamily="34" charset="-122"/>
                <a:cs typeface="Calibri" pitchFamily="34" charset="-120"/>
              </a:rPr>
              <a:t>סריקה</a:t>
            </a:r>
            <a:endParaRPr lang="en-US" sz="1050" dirty="0"/>
          </a:p>
          <a:p>
            <a:pPr rtl="1" algn="ctr" indent="0" marL="0">
              <a:buNone/>
            </a:pPr>
            <a:r>
              <a:rPr lang="en-US" sz="1050" b="1" dirty="0">
                <a:solidFill>
                  <a:srgbClr val="FFFFFF"/>
                </a:solidFill>
                <a:latin typeface="Calibri" pitchFamily="34" charset="0"/>
                <a:ea typeface="Calibri" pitchFamily="34" charset="-122"/>
                <a:cs typeface="Calibri" pitchFamily="34" charset="-120"/>
              </a:rPr>
              <a:t>וזיהוי</a:t>
            </a:r>
            <a:endParaRPr lang="en-US" sz="1050" dirty="0"/>
          </a:p>
        </p:txBody>
      </p:sp>
      <p:sp>
        <p:nvSpPr>
          <p:cNvPr id="12" name="Text 8"/>
          <p:cNvSpPr/>
          <p:nvPr/>
        </p:nvSpPr>
        <p:spPr>
          <a:xfrm>
            <a:off x="1856232" y="2606040"/>
            <a:ext cx="1234440" cy="365760"/>
          </a:xfrm>
          <a:prstGeom prst="rect">
            <a:avLst/>
          </a:prstGeom>
          <a:noFill/>
          <a:ln/>
        </p:spPr>
        <p:txBody>
          <a:bodyPr wrap="square" rtlCol="0" anchor="ctr"/>
          <a:lstStyle/>
          <a:p>
            <a:pPr rtl="1" algn="ctr" indent="0" marL="0">
              <a:buNone/>
            </a:pPr>
            <a:r>
              <a:rPr lang="en-US" sz="800" dirty="0">
                <a:solidFill>
                  <a:srgbClr val="FFFFFF"/>
                </a:solidFill>
                <a:latin typeface="Calibri" pitchFamily="34" charset="0"/>
                <a:ea typeface="Calibri" pitchFamily="34" charset="-122"/>
                <a:cs typeface="Calibri" pitchFamily="34" charset="-120"/>
              </a:rPr>
              <a:t>קבצים · DB</a:t>
            </a:r>
            <a:endParaRPr lang="en-US" sz="800" dirty="0"/>
          </a:p>
          <a:p>
            <a:pPr rtl="1" algn="ctr" indent="0" marL="0">
              <a:buNone/>
            </a:pPr>
            <a:r>
              <a:rPr lang="en-US" sz="800" dirty="0">
                <a:solidFill>
                  <a:srgbClr val="FFFFFF"/>
                </a:solidFill>
                <a:latin typeface="Calibri" pitchFamily="34" charset="0"/>
                <a:ea typeface="Calibri" pitchFamily="34" charset="-122"/>
                <a:cs typeface="Calibri" pitchFamily="34" charset="-120"/>
              </a:rPr>
              <a:t>API · XML</a:t>
            </a:r>
            <a:endParaRPr lang="en-US" sz="800" dirty="0"/>
          </a:p>
        </p:txBody>
      </p:sp>
      <p:sp>
        <p:nvSpPr>
          <p:cNvPr id="13" name="Shape 9"/>
          <p:cNvSpPr/>
          <p:nvPr/>
        </p:nvSpPr>
        <p:spPr>
          <a:xfrm>
            <a:off x="3090672" y="2331720"/>
            <a:ext cx="164592" cy="0"/>
          </a:xfrm>
          <a:prstGeom prst="line">
            <a:avLst/>
          </a:prstGeom>
          <a:noFill/>
          <a:ln w="25400">
            <a:solidFill>
              <a:srgbClr val="94A3B8"/>
            </a:solidFill>
            <a:prstDash val="solid"/>
          </a:ln>
        </p:spPr>
      </p:sp>
      <p:sp>
        <p:nvSpPr>
          <p:cNvPr id="14" name="Shape 10"/>
          <p:cNvSpPr/>
          <p:nvPr/>
        </p:nvSpPr>
        <p:spPr>
          <a:xfrm>
            <a:off x="3255264" y="1554480"/>
            <a:ext cx="1234440" cy="1554480"/>
          </a:xfrm>
          <a:prstGeom prst="rect">
            <a:avLst/>
          </a:prstGeom>
          <a:solidFill>
            <a:srgbClr val="0D9488"/>
          </a:solidFill>
          <a:ln/>
          <a:effectLst>
            <a:outerShdw sx="100000" sy="100000" kx="0" ky="0" algn="bl" rotWithShape="0" blurRad="76200" dist="25400" dir="8100000">
              <a:srgbClr val="000000">
                <a:alpha val="10000"/>
              </a:srgbClr>
            </a:outerShdw>
          </a:effectLst>
        </p:spPr>
      </p:sp>
      <p:pic>
        <p:nvPicPr>
          <p:cNvPr id="15" name="Image 2" descr="preencoded.png">    </p:cNvPr>
          <p:cNvPicPr>
            <a:picLocks noChangeAspect="1"/>
          </p:cNvPicPr>
          <p:nvPr/>
        </p:nvPicPr>
        <p:blipFill>
          <a:blip r:embed="rId3"/>
          <a:stretch>
            <a:fillRect/>
          </a:stretch>
        </p:blipFill>
        <p:spPr>
          <a:xfrm>
            <a:off x="3689604" y="1691640"/>
            <a:ext cx="365760" cy="365760"/>
          </a:xfrm>
          <a:prstGeom prst="rect">
            <a:avLst/>
          </a:prstGeom>
        </p:spPr>
      </p:pic>
      <p:sp>
        <p:nvSpPr>
          <p:cNvPr id="16" name="Text 11"/>
          <p:cNvSpPr/>
          <p:nvPr/>
        </p:nvSpPr>
        <p:spPr>
          <a:xfrm>
            <a:off x="3255264" y="2103120"/>
            <a:ext cx="1234440" cy="457200"/>
          </a:xfrm>
          <a:prstGeom prst="rect">
            <a:avLst/>
          </a:prstGeom>
          <a:noFill/>
          <a:ln/>
        </p:spPr>
        <p:txBody>
          <a:bodyPr wrap="square" rtlCol="0" anchor="ctr"/>
          <a:lstStyle/>
          <a:p>
            <a:pPr rtl="1" algn="ctr" indent="0" marL="0">
              <a:buNone/>
            </a:pPr>
            <a:r>
              <a:rPr lang="en-US" sz="1050" b="1" dirty="0">
                <a:solidFill>
                  <a:srgbClr val="FFFFFF"/>
                </a:solidFill>
                <a:latin typeface="Calibri" pitchFamily="34" charset="0"/>
                <a:ea typeface="Calibri" pitchFamily="34" charset="-122"/>
                <a:cs typeface="Calibri" pitchFamily="34" charset="-120"/>
              </a:rPr>
              <a:t>סיווג</a:t>
            </a:r>
            <a:endParaRPr lang="en-US" sz="1050" dirty="0"/>
          </a:p>
          <a:p>
            <a:pPr rtl="1" algn="ctr" indent="0" marL="0">
              <a:buNone/>
            </a:pPr>
            <a:r>
              <a:rPr lang="en-US" sz="1050" b="1" dirty="0">
                <a:solidFill>
                  <a:srgbClr val="FFFFFF"/>
                </a:solidFill>
                <a:latin typeface="Calibri" pitchFamily="34" charset="0"/>
                <a:ea typeface="Calibri" pitchFamily="34" charset="-122"/>
                <a:cs typeface="Calibri" pitchFamily="34" charset="-120"/>
              </a:rPr>
              <a:t>שגיאה</a:t>
            </a:r>
            <a:endParaRPr lang="en-US" sz="1050" dirty="0"/>
          </a:p>
        </p:txBody>
      </p:sp>
      <p:sp>
        <p:nvSpPr>
          <p:cNvPr id="17" name="Text 12"/>
          <p:cNvSpPr/>
          <p:nvPr/>
        </p:nvSpPr>
        <p:spPr>
          <a:xfrm>
            <a:off x="3255264" y="2606040"/>
            <a:ext cx="1234440" cy="365760"/>
          </a:xfrm>
          <a:prstGeom prst="rect">
            <a:avLst/>
          </a:prstGeom>
          <a:noFill/>
          <a:ln/>
        </p:spPr>
        <p:txBody>
          <a:bodyPr wrap="square" rtlCol="0" anchor="ctr"/>
          <a:lstStyle/>
          <a:p>
            <a:pPr rtl="1" algn="ctr" indent="0" marL="0">
              <a:buNone/>
            </a:pPr>
            <a:r>
              <a:rPr lang="en-US" sz="800" dirty="0">
                <a:solidFill>
                  <a:srgbClr val="FFFFFF"/>
                </a:solidFill>
                <a:latin typeface="Calibri" pitchFamily="34" charset="0"/>
                <a:ea typeface="Calibri" pitchFamily="34" charset="-122"/>
                <a:cs typeface="Calibri" pitchFamily="34" charset="-120"/>
              </a:rPr>
              <a:t>התאמת</a:t>
            </a:r>
            <a:endParaRPr lang="en-US" sz="800" dirty="0"/>
          </a:p>
          <a:p>
            <a:pPr rtl="1" algn="ctr" indent="0" marL="0">
              <a:buNone/>
            </a:pPr>
            <a:r>
              <a:rPr lang="en-US" sz="800" dirty="0">
                <a:solidFill>
                  <a:srgbClr val="FFFFFF"/>
                </a:solidFill>
                <a:latin typeface="Calibri" pitchFamily="34" charset="0"/>
                <a:ea typeface="Calibri" pitchFamily="34" charset="-122"/>
                <a:cs typeface="Calibri" pitchFamily="34" charset="-120"/>
              </a:rPr>
              <a:t>דפוסים</a:t>
            </a:r>
            <a:endParaRPr lang="en-US" sz="800" dirty="0"/>
          </a:p>
        </p:txBody>
      </p:sp>
      <p:sp>
        <p:nvSpPr>
          <p:cNvPr id="18" name="Shape 13"/>
          <p:cNvSpPr/>
          <p:nvPr/>
        </p:nvSpPr>
        <p:spPr>
          <a:xfrm>
            <a:off x="4489704" y="2331720"/>
            <a:ext cx="164592" cy="0"/>
          </a:xfrm>
          <a:prstGeom prst="line">
            <a:avLst/>
          </a:prstGeom>
          <a:noFill/>
          <a:ln w="25400">
            <a:solidFill>
              <a:srgbClr val="94A3B8"/>
            </a:solidFill>
            <a:prstDash val="solid"/>
          </a:ln>
        </p:spPr>
      </p:sp>
      <p:sp>
        <p:nvSpPr>
          <p:cNvPr id="19" name="Shape 14"/>
          <p:cNvSpPr/>
          <p:nvPr/>
        </p:nvSpPr>
        <p:spPr>
          <a:xfrm>
            <a:off x="4654296" y="1554480"/>
            <a:ext cx="1234440" cy="1554480"/>
          </a:xfrm>
          <a:prstGeom prst="rect">
            <a:avLst/>
          </a:prstGeom>
          <a:solidFill>
            <a:srgbClr val="7C3AED"/>
          </a:solidFill>
          <a:ln/>
          <a:effectLst>
            <a:outerShdw sx="100000" sy="100000" kx="0" ky="0" algn="bl" rotWithShape="0" blurRad="76200" dist="25400" dir="8100000">
              <a:srgbClr val="000000">
                <a:alpha val="10000"/>
              </a:srgbClr>
            </a:outerShdw>
          </a:effectLst>
        </p:spPr>
      </p:sp>
      <p:pic>
        <p:nvPicPr>
          <p:cNvPr id="20" name="Image 3" descr="preencoded.png">    </p:cNvPr>
          <p:cNvPicPr>
            <a:picLocks noChangeAspect="1"/>
          </p:cNvPicPr>
          <p:nvPr/>
        </p:nvPicPr>
        <p:blipFill>
          <a:blip r:embed="rId4"/>
          <a:stretch>
            <a:fillRect/>
          </a:stretch>
        </p:blipFill>
        <p:spPr>
          <a:xfrm>
            <a:off x="5088636" y="1691640"/>
            <a:ext cx="365760" cy="365760"/>
          </a:xfrm>
          <a:prstGeom prst="rect">
            <a:avLst/>
          </a:prstGeom>
        </p:spPr>
      </p:pic>
      <p:sp>
        <p:nvSpPr>
          <p:cNvPr id="21" name="Text 15"/>
          <p:cNvSpPr/>
          <p:nvPr/>
        </p:nvSpPr>
        <p:spPr>
          <a:xfrm>
            <a:off x="4654296" y="2103120"/>
            <a:ext cx="1234440" cy="457200"/>
          </a:xfrm>
          <a:prstGeom prst="rect">
            <a:avLst/>
          </a:prstGeom>
          <a:noFill/>
          <a:ln/>
        </p:spPr>
        <p:txBody>
          <a:bodyPr wrap="square" rtlCol="0" anchor="ctr"/>
          <a:lstStyle/>
          <a:p>
            <a:pPr rtl="1" algn="ctr" indent="0" marL="0">
              <a:buNone/>
            </a:pPr>
            <a:r>
              <a:rPr lang="en-US" sz="1050" b="1" dirty="0">
                <a:solidFill>
                  <a:srgbClr val="FFFFFF"/>
                </a:solidFill>
                <a:latin typeface="Calibri" pitchFamily="34" charset="0"/>
                <a:ea typeface="Calibri" pitchFamily="34" charset="-122"/>
                <a:cs typeface="Calibri" pitchFamily="34" charset="-120"/>
              </a:rPr>
              <a:t>המלצת</a:t>
            </a:r>
            <a:endParaRPr lang="en-US" sz="1050" dirty="0"/>
          </a:p>
          <a:p>
            <a:pPr rtl="1" algn="ctr" indent="0" marL="0">
              <a:buNone/>
            </a:pPr>
            <a:r>
              <a:rPr lang="en-US" sz="1050" b="1" dirty="0">
                <a:solidFill>
                  <a:srgbClr val="FFFFFF"/>
                </a:solidFill>
                <a:latin typeface="Calibri" pitchFamily="34" charset="0"/>
                <a:ea typeface="Calibri" pitchFamily="34" charset="-122"/>
                <a:cs typeface="Calibri" pitchFamily="34" charset="-120"/>
              </a:rPr>
              <a:t>תיקון</a:t>
            </a:r>
            <a:endParaRPr lang="en-US" sz="1050" dirty="0"/>
          </a:p>
        </p:txBody>
      </p:sp>
      <p:sp>
        <p:nvSpPr>
          <p:cNvPr id="22" name="Text 16"/>
          <p:cNvSpPr/>
          <p:nvPr/>
        </p:nvSpPr>
        <p:spPr>
          <a:xfrm>
            <a:off x="4654296" y="2606040"/>
            <a:ext cx="1234440" cy="365760"/>
          </a:xfrm>
          <a:prstGeom prst="rect">
            <a:avLst/>
          </a:prstGeom>
          <a:noFill/>
          <a:ln/>
        </p:spPr>
        <p:txBody>
          <a:bodyPr wrap="square" rtlCol="0" anchor="ctr"/>
          <a:lstStyle/>
          <a:p>
            <a:pPr rtl="1" algn="ctr" indent="0" marL="0">
              <a:buNone/>
            </a:pPr>
            <a:r>
              <a:rPr lang="en-US" sz="800" dirty="0">
                <a:solidFill>
                  <a:srgbClr val="FFFFFF"/>
                </a:solidFill>
                <a:latin typeface="Calibri" pitchFamily="34" charset="0"/>
                <a:ea typeface="Calibri" pitchFamily="34" charset="-122"/>
                <a:cs typeface="Calibri" pitchFamily="34" charset="-120"/>
              </a:rPr>
              <a:t>קטלוג</a:t>
            </a:r>
            <a:endParaRPr lang="en-US" sz="800" dirty="0"/>
          </a:p>
          <a:p>
            <a:pPr rtl="1" algn="ctr" indent="0" marL="0">
              <a:buNone/>
            </a:pPr>
            <a:r>
              <a:rPr lang="en-US" sz="800" dirty="0">
                <a:solidFill>
                  <a:srgbClr val="FFFFFF"/>
                </a:solidFill>
                <a:latin typeface="Calibri" pitchFamily="34" charset="0"/>
                <a:ea typeface="Calibri" pitchFamily="34" charset="-122"/>
                <a:cs typeface="Calibri" pitchFamily="34" charset="-120"/>
              </a:rPr>
              <a:t>מדיניות</a:t>
            </a:r>
            <a:endParaRPr lang="en-US" sz="800" dirty="0"/>
          </a:p>
        </p:txBody>
      </p:sp>
      <p:sp>
        <p:nvSpPr>
          <p:cNvPr id="23" name="Shape 17"/>
          <p:cNvSpPr/>
          <p:nvPr/>
        </p:nvSpPr>
        <p:spPr>
          <a:xfrm>
            <a:off x="5888736" y="2331720"/>
            <a:ext cx="164592" cy="0"/>
          </a:xfrm>
          <a:prstGeom prst="line">
            <a:avLst/>
          </a:prstGeom>
          <a:noFill/>
          <a:ln w="25400">
            <a:solidFill>
              <a:srgbClr val="94A3B8"/>
            </a:solidFill>
            <a:prstDash val="solid"/>
          </a:ln>
        </p:spPr>
      </p:sp>
      <p:sp>
        <p:nvSpPr>
          <p:cNvPr id="24" name="Shape 18"/>
          <p:cNvSpPr/>
          <p:nvPr/>
        </p:nvSpPr>
        <p:spPr>
          <a:xfrm>
            <a:off x="6053328" y="1554480"/>
            <a:ext cx="1234440" cy="1554480"/>
          </a:xfrm>
          <a:prstGeom prst="rect">
            <a:avLst/>
          </a:prstGeom>
          <a:solidFill>
            <a:srgbClr val="16A34A"/>
          </a:solidFill>
          <a:ln/>
          <a:effectLst>
            <a:outerShdw sx="100000" sy="100000" kx="0" ky="0" algn="bl" rotWithShape="0" blurRad="76200" dist="25400" dir="8100000">
              <a:srgbClr val="000000">
                <a:alpha val="10000"/>
              </a:srgbClr>
            </a:outerShdw>
          </a:effectLst>
        </p:spPr>
      </p:sp>
      <p:pic>
        <p:nvPicPr>
          <p:cNvPr id="25" name="Image 4" descr="preencoded.png">    </p:cNvPr>
          <p:cNvPicPr>
            <a:picLocks noChangeAspect="1"/>
          </p:cNvPicPr>
          <p:nvPr/>
        </p:nvPicPr>
        <p:blipFill>
          <a:blip r:embed="rId5"/>
          <a:stretch>
            <a:fillRect/>
          </a:stretch>
        </p:blipFill>
        <p:spPr>
          <a:xfrm>
            <a:off x="6487668" y="1691640"/>
            <a:ext cx="365760" cy="365760"/>
          </a:xfrm>
          <a:prstGeom prst="rect">
            <a:avLst/>
          </a:prstGeom>
        </p:spPr>
      </p:pic>
      <p:sp>
        <p:nvSpPr>
          <p:cNvPr id="26" name="Text 19"/>
          <p:cNvSpPr/>
          <p:nvPr/>
        </p:nvSpPr>
        <p:spPr>
          <a:xfrm>
            <a:off x="6053328" y="2103120"/>
            <a:ext cx="1234440" cy="457200"/>
          </a:xfrm>
          <a:prstGeom prst="rect">
            <a:avLst/>
          </a:prstGeom>
          <a:noFill/>
          <a:ln/>
        </p:spPr>
        <p:txBody>
          <a:bodyPr wrap="square" rtlCol="0" anchor="ctr"/>
          <a:lstStyle/>
          <a:p>
            <a:pPr rtl="1" algn="ctr" indent="0" marL="0">
              <a:buNone/>
            </a:pPr>
            <a:r>
              <a:rPr lang="en-US" sz="1050" b="1" dirty="0">
                <a:solidFill>
                  <a:srgbClr val="FFFFFF"/>
                </a:solidFill>
                <a:latin typeface="Calibri" pitchFamily="34" charset="0"/>
                <a:ea typeface="Calibri" pitchFamily="34" charset="-122"/>
                <a:cs typeface="Calibri" pitchFamily="34" charset="-120"/>
              </a:rPr>
              <a:t>תיקון אוטומטי</a:t>
            </a:r>
            <a:endParaRPr lang="en-US" sz="1050" dirty="0"/>
          </a:p>
          <a:p>
            <a:pPr rtl="1" algn="ctr" indent="0" marL="0">
              <a:buNone/>
            </a:pPr>
            <a:r>
              <a:rPr lang="en-US" sz="1050" b="1" dirty="0">
                <a:solidFill>
                  <a:srgbClr val="FFFFFF"/>
                </a:solidFill>
                <a:latin typeface="Calibri" pitchFamily="34" charset="0"/>
                <a:ea typeface="Calibri" pitchFamily="34" charset="-122"/>
                <a:cs typeface="Calibri" pitchFamily="34" charset="-120"/>
              </a:rPr>
              <a:t>או אישור</a:t>
            </a:r>
            <a:endParaRPr lang="en-US" sz="1050" dirty="0"/>
          </a:p>
        </p:txBody>
      </p:sp>
      <p:sp>
        <p:nvSpPr>
          <p:cNvPr id="27" name="Text 20"/>
          <p:cNvSpPr/>
          <p:nvPr/>
        </p:nvSpPr>
        <p:spPr>
          <a:xfrm>
            <a:off x="6053328" y="2606040"/>
            <a:ext cx="1234440" cy="365760"/>
          </a:xfrm>
          <a:prstGeom prst="rect">
            <a:avLst/>
          </a:prstGeom>
          <a:noFill/>
          <a:ln/>
        </p:spPr>
        <p:txBody>
          <a:bodyPr wrap="square" rtlCol="0" anchor="ctr"/>
          <a:lstStyle/>
          <a:p>
            <a:pPr rtl="1" algn="ctr" indent="0" marL="0">
              <a:buNone/>
            </a:pPr>
            <a:r>
              <a:rPr lang="en-US" sz="800" dirty="0">
                <a:solidFill>
                  <a:srgbClr val="FFFFFF"/>
                </a:solidFill>
                <a:latin typeface="Calibri" pitchFamily="34" charset="0"/>
                <a:ea typeface="Calibri" pitchFamily="34" charset="-122"/>
                <a:cs typeface="Calibri" pitchFamily="34" charset="-120"/>
              </a:rPr>
              <a:t>דשבורד</a:t>
            </a:r>
            <a:endParaRPr lang="en-US" sz="800" dirty="0"/>
          </a:p>
        </p:txBody>
      </p:sp>
      <p:sp>
        <p:nvSpPr>
          <p:cNvPr id="28" name="Shape 21"/>
          <p:cNvSpPr/>
          <p:nvPr/>
        </p:nvSpPr>
        <p:spPr>
          <a:xfrm>
            <a:off x="7287768" y="2331720"/>
            <a:ext cx="164592" cy="0"/>
          </a:xfrm>
          <a:prstGeom prst="line">
            <a:avLst/>
          </a:prstGeom>
          <a:noFill/>
          <a:ln w="25400">
            <a:solidFill>
              <a:srgbClr val="94A3B8"/>
            </a:solidFill>
            <a:prstDash val="solid"/>
          </a:ln>
        </p:spPr>
      </p:sp>
      <p:sp>
        <p:nvSpPr>
          <p:cNvPr id="29" name="Shape 22"/>
          <p:cNvSpPr/>
          <p:nvPr/>
        </p:nvSpPr>
        <p:spPr>
          <a:xfrm>
            <a:off x="7452360" y="1554480"/>
            <a:ext cx="1234440" cy="1554480"/>
          </a:xfrm>
          <a:prstGeom prst="rect">
            <a:avLst/>
          </a:prstGeom>
          <a:solidFill>
            <a:srgbClr val="EA580C"/>
          </a:solidFill>
          <a:ln/>
          <a:effectLst>
            <a:outerShdw sx="100000" sy="100000" kx="0" ky="0" algn="bl" rotWithShape="0" blurRad="76200" dist="25400" dir="8100000">
              <a:srgbClr val="000000">
                <a:alpha val="10000"/>
              </a:srgbClr>
            </a:outerShdw>
          </a:effectLst>
        </p:spPr>
      </p:sp>
      <p:pic>
        <p:nvPicPr>
          <p:cNvPr id="30" name="Image 5" descr="preencoded.png">    </p:cNvPr>
          <p:cNvPicPr>
            <a:picLocks noChangeAspect="1"/>
          </p:cNvPicPr>
          <p:nvPr/>
        </p:nvPicPr>
        <p:blipFill>
          <a:blip r:embed="rId6"/>
          <a:stretch>
            <a:fillRect/>
          </a:stretch>
        </p:blipFill>
        <p:spPr>
          <a:xfrm>
            <a:off x="7886700" y="1691640"/>
            <a:ext cx="365760" cy="365760"/>
          </a:xfrm>
          <a:prstGeom prst="rect">
            <a:avLst/>
          </a:prstGeom>
        </p:spPr>
      </p:pic>
      <p:sp>
        <p:nvSpPr>
          <p:cNvPr id="31" name="Text 23"/>
          <p:cNvSpPr/>
          <p:nvPr/>
        </p:nvSpPr>
        <p:spPr>
          <a:xfrm>
            <a:off x="7452360" y="2103120"/>
            <a:ext cx="1234440" cy="457200"/>
          </a:xfrm>
          <a:prstGeom prst="rect">
            <a:avLst/>
          </a:prstGeom>
          <a:noFill/>
          <a:ln/>
        </p:spPr>
        <p:txBody>
          <a:bodyPr wrap="square" rtlCol="0" anchor="ctr"/>
          <a:lstStyle/>
          <a:p>
            <a:pPr rtl="1" algn="ctr" indent="0" marL="0">
              <a:buNone/>
            </a:pPr>
            <a:r>
              <a:rPr lang="en-US" sz="1050" b="1" dirty="0">
                <a:solidFill>
                  <a:srgbClr val="FFFFFF"/>
                </a:solidFill>
                <a:latin typeface="Calibri" pitchFamily="34" charset="0"/>
                <a:ea typeface="Calibri" pitchFamily="34" charset="-122"/>
                <a:cs typeface="Calibri" pitchFamily="34" charset="-120"/>
              </a:rPr>
              <a:t>מסלול</a:t>
            </a:r>
            <a:endParaRPr lang="en-US" sz="1050" dirty="0"/>
          </a:p>
          <a:p>
            <a:pPr rtl="1" algn="ctr" indent="0" marL="0">
              <a:buNone/>
            </a:pPr>
            <a:r>
              <a:rPr lang="en-US" sz="1050" b="1" dirty="0">
                <a:solidFill>
                  <a:srgbClr val="FFFFFF"/>
                </a:solidFill>
                <a:latin typeface="Calibri" pitchFamily="34" charset="0"/>
                <a:ea typeface="Calibri" pitchFamily="34" charset="-122"/>
                <a:cs typeface="Calibri" pitchFamily="34" charset="-120"/>
              </a:rPr>
              <a:t>ביקורת</a:t>
            </a:r>
            <a:endParaRPr lang="en-US" sz="1050" dirty="0"/>
          </a:p>
        </p:txBody>
      </p:sp>
      <p:sp>
        <p:nvSpPr>
          <p:cNvPr id="32" name="Text 24"/>
          <p:cNvSpPr/>
          <p:nvPr/>
        </p:nvSpPr>
        <p:spPr>
          <a:xfrm>
            <a:off x="7452360" y="2606040"/>
            <a:ext cx="1234440" cy="365760"/>
          </a:xfrm>
          <a:prstGeom prst="rect">
            <a:avLst/>
          </a:prstGeom>
          <a:noFill/>
          <a:ln/>
        </p:spPr>
        <p:txBody>
          <a:bodyPr wrap="square" rtlCol="0" anchor="ctr"/>
          <a:lstStyle/>
          <a:p>
            <a:pPr rtl="1" algn="ctr" indent="0" marL="0">
              <a:buNone/>
            </a:pPr>
            <a:r>
              <a:rPr lang="en-US" sz="800" dirty="0">
                <a:solidFill>
                  <a:srgbClr val="FFFFFF"/>
                </a:solidFill>
                <a:latin typeface="Calibri" pitchFamily="34" charset="0"/>
                <a:ea typeface="Calibri" pitchFamily="34" charset="-122"/>
                <a:cs typeface="Calibri" pitchFamily="34" charset="-120"/>
              </a:rPr>
              <a:t>יומן בלתי</a:t>
            </a:r>
            <a:endParaRPr lang="en-US" sz="800" dirty="0"/>
          </a:p>
          <a:p>
            <a:pPr rtl="1" algn="ctr" indent="0" marL="0">
              <a:buNone/>
            </a:pPr>
            <a:r>
              <a:rPr lang="en-US" sz="800" dirty="0">
                <a:solidFill>
                  <a:srgbClr val="FFFFFF"/>
                </a:solidFill>
                <a:latin typeface="Calibri" pitchFamily="34" charset="0"/>
                <a:ea typeface="Calibri" pitchFamily="34" charset="-122"/>
                <a:cs typeface="Calibri" pitchFamily="34" charset="-120"/>
              </a:rPr>
              <a:t>ניתן לשינוי</a:t>
            </a:r>
            <a:endParaRPr lang="en-US" sz="800" dirty="0"/>
          </a:p>
        </p:txBody>
      </p:sp>
      <p:sp>
        <p:nvSpPr>
          <p:cNvPr id="33" name="Text 25"/>
          <p:cNvSpPr/>
          <p:nvPr/>
        </p:nvSpPr>
        <p:spPr>
          <a:xfrm>
            <a:off x="457200" y="3520440"/>
            <a:ext cx="8229600" cy="320040"/>
          </a:xfrm>
          <a:prstGeom prst="rect">
            <a:avLst/>
          </a:prstGeom>
          <a:noFill/>
          <a:ln/>
        </p:spPr>
        <p:txBody>
          <a:bodyPr wrap="square" rtlCol="0" anchor="ctr"/>
          <a:lstStyle/>
          <a:p>
            <a:pPr rtl="1" algn="ctr" indent="0" marL="0">
              <a:buNone/>
            </a:pPr>
            <a:r>
              <a:rPr lang="en-US" sz="1000" i="1" dirty="0">
                <a:solidFill>
                  <a:srgbClr val="94A3B8"/>
                </a:solidFill>
                <a:latin typeface="Calibri" pitchFamily="34" charset="0"/>
                <a:ea typeface="Calibri" pitchFamily="34" charset="-122"/>
                <a:cs typeface="Calibri" pitchFamily="34" charset="-120"/>
              </a:rPr>
              <a:t>כל שלב מבוסס כללים ודטרמיניסטי — ניתן לביקורת מלאה, עובד אופליין, וצפוי</a:t>
            </a:r>
            <a:endParaRPr lang="en-US" sz="1000" dirty="0"/>
          </a:p>
        </p:txBody>
      </p:sp>
      <p:sp>
        <p:nvSpPr>
          <p:cNvPr id="34" name="Text 26"/>
          <p:cNvSpPr/>
          <p:nvPr/>
        </p:nvSpPr>
        <p:spPr>
          <a:xfrm>
            <a:off x="6858000" y="3931920"/>
            <a:ext cx="1828800" cy="173736"/>
          </a:xfrm>
          <a:prstGeom prst="rect">
            <a:avLst/>
          </a:prstGeom>
          <a:noFill/>
          <a:ln/>
        </p:spPr>
        <p:txBody>
          <a:bodyPr wrap="square" rtlCol="0" anchor="ctr"/>
          <a:lstStyle/>
          <a:p>
            <a:pPr rtl="1" algn="r" indent="0" marL="0">
              <a:buNone/>
            </a:pPr>
            <a:r>
              <a:rPr lang="en-US" sz="800" b="1" dirty="0">
                <a:solidFill>
                  <a:srgbClr val="1C2B3A"/>
                </a:solidFill>
                <a:latin typeface="Calibri" pitchFamily="34" charset="0"/>
                <a:ea typeface="Calibri" pitchFamily="34" charset="-122"/>
                <a:cs typeface="Calibri" pitchFamily="34" charset="-120"/>
              </a:rPr>
              <a:t>1. סריקה וזיהוי</a:t>
            </a:r>
            <a:endParaRPr lang="en-US" sz="800" dirty="0"/>
          </a:p>
        </p:txBody>
      </p:sp>
      <p:sp>
        <p:nvSpPr>
          <p:cNvPr id="35" name="Text 27"/>
          <p:cNvSpPr/>
          <p:nvPr/>
        </p:nvSpPr>
        <p:spPr>
          <a:xfrm>
            <a:off x="457200" y="3931920"/>
            <a:ext cx="6400800" cy="173736"/>
          </a:xfrm>
          <a:prstGeom prst="rect">
            <a:avLst/>
          </a:prstGeom>
          <a:noFill/>
          <a:ln/>
        </p:spPr>
        <p:txBody>
          <a:bodyPr wrap="square" rtlCol="0" anchor="ctr"/>
          <a:lstStyle/>
          <a:p>
            <a:pPr rtl="1" algn="r" indent="0" marL="0">
              <a:buNone/>
            </a:pPr>
            <a:r>
              <a:rPr lang="en-US" sz="800" dirty="0">
                <a:solidFill>
                  <a:srgbClr val="475569"/>
                </a:solidFill>
                <a:latin typeface="Calibri" pitchFamily="34" charset="0"/>
                <a:ea typeface="Calibri" pitchFamily="34" charset="-122"/>
                <a:cs typeface="Calibri" pitchFamily="34" charset="-120"/>
              </a:rPr>
              <a:t>4 אסטרטגיות מנטרות קבצי לוג, טבלאות DB, נקודות API ותוכן XML</a:t>
            </a:r>
            <a:endParaRPr lang="en-US" sz="800" dirty="0"/>
          </a:p>
        </p:txBody>
      </p:sp>
      <p:sp>
        <p:nvSpPr>
          <p:cNvPr id="36" name="Text 28"/>
          <p:cNvSpPr/>
          <p:nvPr/>
        </p:nvSpPr>
        <p:spPr>
          <a:xfrm>
            <a:off x="6858000" y="4105656"/>
            <a:ext cx="1828800" cy="173736"/>
          </a:xfrm>
          <a:prstGeom prst="rect">
            <a:avLst/>
          </a:prstGeom>
          <a:noFill/>
          <a:ln/>
        </p:spPr>
        <p:txBody>
          <a:bodyPr wrap="square" rtlCol="0" anchor="ctr"/>
          <a:lstStyle/>
          <a:p>
            <a:pPr rtl="1" algn="r" indent="0" marL="0">
              <a:buNone/>
            </a:pPr>
            <a:r>
              <a:rPr lang="en-US" sz="800" b="1" dirty="0">
                <a:solidFill>
                  <a:srgbClr val="1C2B3A"/>
                </a:solidFill>
                <a:latin typeface="Calibri" pitchFamily="34" charset="0"/>
                <a:ea typeface="Calibri" pitchFamily="34" charset="-122"/>
                <a:cs typeface="Calibri" pitchFamily="34" charset="-120"/>
              </a:rPr>
              <a:t>2. סיווג</a:t>
            </a:r>
            <a:endParaRPr lang="en-US" sz="800" dirty="0"/>
          </a:p>
        </p:txBody>
      </p:sp>
      <p:sp>
        <p:nvSpPr>
          <p:cNvPr id="37" name="Text 29"/>
          <p:cNvSpPr/>
          <p:nvPr/>
        </p:nvSpPr>
        <p:spPr>
          <a:xfrm>
            <a:off x="457200" y="4105656"/>
            <a:ext cx="6400800" cy="173736"/>
          </a:xfrm>
          <a:prstGeom prst="rect">
            <a:avLst/>
          </a:prstGeom>
          <a:noFill/>
          <a:ln/>
        </p:spPr>
        <p:txBody>
          <a:bodyPr wrap="square" rtlCol="0" anchor="ctr"/>
          <a:lstStyle/>
          <a:p>
            <a:pPr rtl="1" algn="r" indent="0" marL="0">
              <a:buNone/>
            </a:pPr>
            <a:r>
              <a:rPr lang="en-US" sz="800" dirty="0">
                <a:solidFill>
                  <a:srgbClr val="475569"/>
                </a:solidFill>
                <a:latin typeface="Calibri" pitchFamily="34" charset="0"/>
                <a:ea typeface="Calibri" pitchFamily="34" charset="-122"/>
                <a:cs typeface="Calibri" pitchFamily="34" charset="-120"/>
              </a:rPr>
              <a:t>כללי דפוסים מקצים סוגי שגיאה. לפי עדיפות; ההתאמה הראשונה קובעת</a:t>
            </a:r>
            <a:endParaRPr lang="en-US" sz="800" dirty="0"/>
          </a:p>
        </p:txBody>
      </p:sp>
      <p:sp>
        <p:nvSpPr>
          <p:cNvPr id="38" name="Text 30"/>
          <p:cNvSpPr/>
          <p:nvPr/>
        </p:nvSpPr>
        <p:spPr>
          <a:xfrm>
            <a:off x="6858000" y="4279392"/>
            <a:ext cx="1828800" cy="173736"/>
          </a:xfrm>
          <a:prstGeom prst="rect">
            <a:avLst/>
          </a:prstGeom>
          <a:noFill/>
          <a:ln/>
        </p:spPr>
        <p:txBody>
          <a:bodyPr wrap="square" rtlCol="0" anchor="ctr"/>
          <a:lstStyle/>
          <a:p>
            <a:pPr rtl="1" algn="r" indent="0" marL="0">
              <a:buNone/>
            </a:pPr>
            <a:r>
              <a:rPr lang="en-US" sz="800" b="1" dirty="0">
                <a:solidFill>
                  <a:srgbClr val="1C2B3A"/>
                </a:solidFill>
                <a:latin typeface="Calibri" pitchFamily="34" charset="0"/>
                <a:ea typeface="Calibri" pitchFamily="34" charset="-122"/>
                <a:cs typeface="Calibri" pitchFamily="34" charset="-120"/>
              </a:rPr>
              <a:t>3. המלצת תיקון</a:t>
            </a:r>
            <a:endParaRPr lang="en-US" sz="800" dirty="0"/>
          </a:p>
        </p:txBody>
      </p:sp>
      <p:sp>
        <p:nvSpPr>
          <p:cNvPr id="39" name="Text 31"/>
          <p:cNvSpPr/>
          <p:nvPr/>
        </p:nvSpPr>
        <p:spPr>
          <a:xfrm>
            <a:off x="457200" y="4279392"/>
            <a:ext cx="6400800" cy="173736"/>
          </a:xfrm>
          <a:prstGeom prst="rect">
            <a:avLst/>
          </a:prstGeom>
          <a:noFill/>
          <a:ln/>
        </p:spPr>
        <p:txBody>
          <a:bodyPr wrap="square" rtlCol="0" anchor="ctr"/>
          <a:lstStyle/>
          <a:p>
            <a:pPr rtl="1" algn="r" indent="0" marL="0">
              <a:buNone/>
            </a:pPr>
            <a:r>
              <a:rPr lang="en-US" sz="800" dirty="0">
                <a:solidFill>
                  <a:srgbClr val="475569"/>
                </a:solidFill>
                <a:latin typeface="Calibri" pitchFamily="34" charset="0"/>
                <a:ea typeface="Calibri" pitchFamily="34" charset="-122"/>
                <a:cs typeface="Calibri" pitchFamily="34" charset="-120"/>
              </a:rPr>
              <a:t>קטלוג מדיניות מייצר הצעה. תומך בפעולות בודדות ותיקונים מרובי שלבים</a:t>
            </a:r>
            <a:endParaRPr lang="en-US" sz="800" dirty="0"/>
          </a:p>
        </p:txBody>
      </p:sp>
      <p:sp>
        <p:nvSpPr>
          <p:cNvPr id="40" name="Text 32"/>
          <p:cNvSpPr/>
          <p:nvPr/>
        </p:nvSpPr>
        <p:spPr>
          <a:xfrm>
            <a:off x="6858000" y="4453128"/>
            <a:ext cx="1828800" cy="173736"/>
          </a:xfrm>
          <a:prstGeom prst="rect">
            <a:avLst/>
          </a:prstGeom>
          <a:noFill/>
          <a:ln/>
        </p:spPr>
        <p:txBody>
          <a:bodyPr wrap="square" rtlCol="0" anchor="ctr"/>
          <a:lstStyle/>
          <a:p>
            <a:pPr rtl="1" algn="r" indent="0" marL="0">
              <a:buNone/>
            </a:pPr>
            <a:r>
              <a:rPr lang="en-US" sz="800" b="1" dirty="0">
                <a:solidFill>
                  <a:srgbClr val="1C2B3A"/>
                </a:solidFill>
                <a:latin typeface="Calibri" pitchFamily="34" charset="0"/>
                <a:ea typeface="Calibri" pitchFamily="34" charset="-122"/>
                <a:cs typeface="Calibri" pitchFamily="34" charset="-120"/>
              </a:rPr>
              <a:t>4. תיקון/אישור</a:t>
            </a:r>
            <a:endParaRPr lang="en-US" sz="800" dirty="0"/>
          </a:p>
        </p:txBody>
      </p:sp>
      <p:sp>
        <p:nvSpPr>
          <p:cNvPr id="41" name="Text 33"/>
          <p:cNvSpPr/>
          <p:nvPr/>
        </p:nvSpPr>
        <p:spPr>
          <a:xfrm>
            <a:off x="457200" y="4453128"/>
            <a:ext cx="6400800" cy="173736"/>
          </a:xfrm>
          <a:prstGeom prst="rect">
            <a:avLst/>
          </a:prstGeom>
          <a:noFill/>
          <a:ln/>
        </p:spPr>
        <p:txBody>
          <a:bodyPr wrap="square" rtlCol="0" anchor="ctr"/>
          <a:lstStyle/>
          <a:p>
            <a:pPr rtl="1" algn="r" indent="0" marL="0">
              <a:buNone/>
            </a:pPr>
            <a:r>
              <a:rPr lang="en-US" sz="800" dirty="0">
                <a:solidFill>
                  <a:srgbClr val="475569"/>
                </a:solidFill>
                <a:latin typeface="Calibri" pitchFamily="34" charset="0"/>
                <a:ea typeface="Calibri" pitchFamily="34" charset="-122"/>
                <a:cs typeface="Calibri" pitchFamily="34" charset="-120"/>
              </a:rPr>
              <a:t>בעיות ידועות נפתרות אוטומטית. חדשות מנותבות למפעיל</a:t>
            </a:r>
            <a:endParaRPr lang="en-US" sz="800" dirty="0"/>
          </a:p>
        </p:txBody>
      </p:sp>
      <p:sp>
        <p:nvSpPr>
          <p:cNvPr id="42" name="Text 34"/>
          <p:cNvSpPr/>
          <p:nvPr/>
        </p:nvSpPr>
        <p:spPr>
          <a:xfrm>
            <a:off x="6858000" y="4626864"/>
            <a:ext cx="1828800" cy="173736"/>
          </a:xfrm>
          <a:prstGeom prst="rect">
            <a:avLst/>
          </a:prstGeom>
          <a:noFill/>
          <a:ln/>
        </p:spPr>
        <p:txBody>
          <a:bodyPr wrap="square" rtlCol="0" anchor="ctr"/>
          <a:lstStyle/>
          <a:p>
            <a:pPr rtl="1" algn="r" indent="0" marL="0">
              <a:buNone/>
            </a:pPr>
            <a:r>
              <a:rPr lang="en-US" sz="800" b="1" dirty="0">
                <a:solidFill>
                  <a:srgbClr val="1C2B3A"/>
                </a:solidFill>
                <a:latin typeface="Calibri" pitchFamily="34" charset="0"/>
                <a:ea typeface="Calibri" pitchFamily="34" charset="-122"/>
                <a:cs typeface="Calibri" pitchFamily="34" charset="-120"/>
              </a:rPr>
              <a:t>5. תיעוד</a:t>
            </a:r>
            <a:endParaRPr lang="en-US" sz="800" dirty="0"/>
          </a:p>
        </p:txBody>
      </p:sp>
      <p:sp>
        <p:nvSpPr>
          <p:cNvPr id="43" name="Text 35"/>
          <p:cNvSpPr/>
          <p:nvPr/>
        </p:nvSpPr>
        <p:spPr>
          <a:xfrm>
            <a:off x="457200" y="4626864"/>
            <a:ext cx="6400800" cy="173736"/>
          </a:xfrm>
          <a:prstGeom prst="rect">
            <a:avLst/>
          </a:prstGeom>
          <a:noFill/>
          <a:ln/>
        </p:spPr>
        <p:txBody>
          <a:bodyPr wrap="square" rtlCol="0" anchor="ctr"/>
          <a:lstStyle/>
          <a:p>
            <a:pPr rtl="1" algn="r" indent="0" marL="0">
              <a:buNone/>
            </a:pPr>
            <a:r>
              <a:rPr lang="en-US" sz="800" dirty="0">
                <a:solidFill>
                  <a:srgbClr val="475569"/>
                </a:solidFill>
                <a:latin typeface="Calibri" pitchFamily="34" charset="0"/>
                <a:ea typeface="Calibri" pitchFamily="34" charset="-122"/>
                <a:cs typeface="Calibri" pitchFamily="34" charset="-120"/>
              </a:rPr>
              <a:t>כל זיהוי, סיווג, תיקון והחלטה מתועדים באופן בלתי ניתן לשינוי</a:t>
            </a:r>
            <a:endParaRPr lang="en-US" sz="800" dirty="0"/>
          </a:p>
        </p:txBody>
      </p:sp>
      <p:sp>
        <p:nvSpPr>
          <p:cNvPr id="44" name="Shape 36"/>
          <p:cNvSpPr/>
          <p:nvPr/>
        </p:nvSpPr>
        <p:spPr>
          <a:xfrm>
            <a:off x="0" y="4800600"/>
            <a:ext cx="9144000" cy="342900"/>
          </a:xfrm>
          <a:prstGeom prst="rect">
            <a:avLst/>
          </a:prstGeom>
          <a:solidFill>
            <a:srgbClr val="1C2B3A"/>
          </a:solidFill>
          <a:ln/>
        </p:spPr>
      </p:sp>
      <p:sp>
        <p:nvSpPr>
          <p:cNvPr id="45" name="Text 37"/>
          <p:cNvSpPr/>
          <p:nvPr/>
        </p:nvSpPr>
        <p:spPr>
          <a:xfrm>
            <a:off x="4572000" y="4828032"/>
            <a:ext cx="4297680" cy="274320"/>
          </a:xfrm>
          <a:prstGeom prst="rect">
            <a:avLst/>
          </a:prstGeom>
          <a:noFill/>
          <a:ln/>
        </p:spPr>
        <p:txBody>
          <a:bodyPr wrap="square" lIns="0" tIns="0" rIns="0" bIns="0" rtlCol="0" anchor="ctr"/>
          <a:lstStyle/>
          <a:p>
            <a:pPr rtl="1" algn="r" indent="0" marL="0">
              <a:buNone/>
            </a:pPr>
            <a:r>
              <a:rPr lang="en-US" sz="800" dirty="0">
                <a:solidFill>
                  <a:srgbClr val="94A3B8"/>
                </a:solidFill>
                <a:latin typeface="Calibri" pitchFamily="34" charset="0"/>
                <a:ea typeface="Calibri" pitchFamily="34" charset="-122"/>
                <a:cs typeface="Calibri" pitchFamily="34" charset="-120"/>
              </a:rPr>
              <a:t>MAIA — סקירה למנהלים</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rtlCol="0" anchor="ctr"/>
          <a:lstStyle/>
          <a:p>
            <a:pPr rtl="1" algn="r" indent="0" marL="0">
              <a:buNone/>
            </a:pPr>
            <a:r>
              <a:rPr lang="en-US" sz="2800" b="1" dirty="0">
                <a:solidFill>
                  <a:srgbClr val="1C2B3A"/>
                </a:solidFill>
                <a:latin typeface="Calibri" pitchFamily="34" charset="0"/>
                <a:ea typeface="Calibri" pitchFamily="34" charset="-122"/>
                <a:cs typeface="Calibri" pitchFamily="34" charset="-120"/>
              </a:rPr>
              <a:t>יכולות הפלטפורמה</a:t>
            </a:r>
            <a:endParaRPr lang="en-US" sz="2800" dirty="0"/>
          </a:p>
        </p:txBody>
      </p:sp>
      <p:sp>
        <p:nvSpPr>
          <p:cNvPr id="3" name="Shape 1"/>
          <p:cNvSpPr/>
          <p:nvPr/>
        </p:nvSpPr>
        <p:spPr>
          <a:xfrm>
            <a:off x="2697480" y="1005840"/>
            <a:ext cx="457200" cy="457200"/>
          </a:xfrm>
          <a:prstGeom prst="ellipse">
            <a:avLst/>
          </a:prstGeom>
          <a:solidFill>
            <a:srgbClr val="2563EB"/>
          </a:solidFill>
          <a:ln/>
        </p:spPr>
      </p:sp>
      <p:pic>
        <p:nvPicPr>
          <p:cNvPr id="4" name="Image 0" descr="preencoded.png">    </p:cNvPr>
          <p:cNvPicPr>
            <a:picLocks noChangeAspect="1"/>
          </p:cNvPicPr>
          <p:nvPr/>
        </p:nvPicPr>
        <p:blipFill>
          <a:blip r:embed="rId1"/>
          <a:stretch>
            <a:fillRect/>
          </a:stretch>
        </p:blipFill>
        <p:spPr>
          <a:xfrm>
            <a:off x="2788920" y="1097280"/>
            <a:ext cx="274320" cy="274320"/>
          </a:xfrm>
          <a:prstGeom prst="rect">
            <a:avLst/>
          </a:prstGeom>
        </p:spPr>
      </p:pic>
      <p:sp>
        <p:nvSpPr>
          <p:cNvPr id="5" name="Text 2"/>
          <p:cNvSpPr/>
          <p:nvPr/>
        </p:nvSpPr>
        <p:spPr>
          <a:xfrm>
            <a:off x="457200" y="1005840"/>
            <a:ext cx="2103120" cy="320040"/>
          </a:xfrm>
          <a:prstGeom prst="rect">
            <a:avLst/>
          </a:prstGeom>
          <a:noFill/>
          <a:ln/>
        </p:spPr>
        <p:txBody>
          <a:bodyPr wrap="square" rtlCol="0" anchor="ctr"/>
          <a:lstStyle/>
          <a:p>
            <a:pPr rtl="1" algn="r" indent="0" marL="0">
              <a:buNone/>
            </a:pPr>
            <a:r>
              <a:rPr lang="en-US" sz="1200" b="1" dirty="0">
                <a:solidFill>
                  <a:srgbClr val="1C2B3A"/>
                </a:solidFill>
                <a:latin typeface="Calibri" pitchFamily="34" charset="0"/>
                <a:ea typeface="Calibri" pitchFamily="34" charset="-122"/>
                <a:cs typeface="Calibri" pitchFamily="34" charset="-120"/>
              </a:rPr>
              <a:t>ניטור ממקורות מרובים</a:t>
            </a:r>
            <a:endParaRPr lang="en-US" sz="1200" dirty="0"/>
          </a:p>
        </p:txBody>
      </p:sp>
      <p:sp>
        <p:nvSpPr>
          <p:cNvPr id="6" name="Text 3"/>
          <p:cNvSpPr/>
          <p:nvPr/>
        </p:nvSpPr>
        <p:spPr>
          <a:xfrm>
            <a:off x="457200" y="1371600"/>
            <a:ext cx="2103120" cy="640080"/>
          </a:xfrm>
          <a:prstGeom prst="rect">
            <a:avLst/>
          </a:prstGeom>
          <a:noFill/>
          <a:ln/>
        </p:spPr>
        <p:txBody>
          <a:bodyPr wrap="square" rtlCol="0" anchor="t"/>
          <a:lstStyle/>
          <a:p>
            <a:pPr rtl="1" algn="r" indent="0" marL="0">
              <a:buNone/>
            </a:pPr>
            <a:r>
              <a:rPr lang="en-US" sz="950" dirty="0">
                <a:solidFill>
                  <a:srgbClr val="475569"/>
                </a:solidFill>
                <a:latin typeface="Calibri" pitchFamily="34" charset="0"/>
                <a:ea typeface="Calibri" pitchFamily="34" charset="-122"/>
                <a:cs typeface="Calibri" pitchFamily="34" charset="-120"/>
              </a:rPr>
              <a:t>4 סוגי סריקה (קובץ, DB, API, תוכן XML). לכל עבודה N מקורות עם כללים עצמאיים.</a:t>
            </a:r>
            <a:endParaRPr lang="en-US" sz="950" dirty="0"/>
          </a:p>
        </p:txBody>
      </p:sp>
      <p:sp>
        <p:nvSpPr>
          <p:cNvPr id="7" name="Shape 4"/>
          <p:cNvSpPr/>
          <p:nvPr/>
        </p:nvSpPr>
        <p:spPr>
          <a:xfrm>
            <a:off x="5532120" y="1005840"/>
            <a:ext cx="457200" cy="457200"/>
          </a:xfrm>
          <a:prstGeom prst="ellipse">
            <a:avLst/>
          </a:prstGeom>
          <a:solidFill>
            <a:srgbClr val="0D9488"/>
          </a:solidFill>
          <a:ln/>
        </p:spPr>
      </p:sp>
      <p:pic>
        <p:nvPicPr>
          <p:cNvPr id="8" name="Image 1" descr="preencoded.png">    </p:cNvPr>
          <p:cNvPicPr>
            <a:picLocks noChangeAspect="1"/>
          </p:cNvPicPr>
          <p:nvPr/>
        </p:nvPicPr>
        <p:blipFill>
          <a:blip r:embed="rId2"/>
          <a:stretch>
            <a:fillRect/>
          </a:stretch>
        </p:blipFill>
        <p:spPr>
          <a:xfrm>
            <a:off x="5623560" y="1097280"/>
            <a:ext cx="274320" cy="274320"/>
          </a:xfrm>
          <a:prstGeom prst="rect">
            <a:avLst/>
          </a:prstGeom>
        </p:spPr>
      </p:pic>
      <p:sp>
        <p:nvSpPr>
          <p:cNvPr id="9" name="Text 5"/>
          <p:cNvSpPr/>
          <p:nvPr/>
        </p:nvSpPr>
        <p:spPr>
          <a:xfrm>
            <a:off x="3291840" y="1005840"/>
            <a:ext cx="2103120" cy="320040"/>
          </a:xfrm>
          <a:prstGeom prst="rect">
            <a:avLst/>
          </a:prstGeom>
          <a:noFill/>
          <a:ln/>
        </p:spPr>
        <p:txBody>
          <a:bodyPr wrap="square" rtlCol="0" anchor="ctr"/>
          <a:lstStyle/>
          <a:p>
            <a:pPr rtl="1" algn="r" indent="0" marL="0">
              <a:buNone/>
            </a:pPr>
            <a:r>
              <a:rPr lang="en-US" sz="1200" b="1" dirty="0">
                <a:solidFill>
                  <a:srgbClr val="1C2B3A"/>
                </a:solidFill>
                <a:latin typeface="Calibri" pitchFamily="34" charset="0"/>
                <a:ea typeface="Calibri" pitchFamily="34" charset="-122"/>
                <a:cs typeface="Calibri" pitchFamily="34" charset="-120"/>
              </a:rPr>
              <a:t>סיווג חכם</a:t>
            </a:r>
            <a:endParaRPr lang="en-US" sz="1200" dirty="0"/>
          </a:p>
        </p:txBody>
      </p:sp>
      <p:sp>
        <p:nvSpPr>
          <p:cNvPr id="10" name="Text 6"/>
          <p:cNvSpPr/>
          <p:nvPr/>
        </p:nvSpPr>
        <p:spPr>
          <a:xfrm>
            <a:off x="3291840" y="1371600"/>
            <a:ext cx="2103120" cy="640080"/>
          </a:xfrm>
          <a:prstGeom prst="rect">
            <a:avLst/>
          </a:prstGeom>
          <a:noFill/>
          <a:ln/>
        </p:spPr>
        <p:txBody>
          <a:bodyPr wrap="square" rtlCol="0" anchor="t"/>
          <a:lstStyle/>
          <a:p>
            <a:pPr rtl="1" algn="r" indent="0" marL="0">
              <a:buNone/>
            </a:pPr>
            <a:r>
              <a:rPr lang="en-US" sz="950" dirty="0">
                <a:solidFill>
                  <a:srgbClr val="475569"/>
                </a:solidFill>
                <a:latin typeface="Calibri" pitchFamily="34" charset="0"/>
                <a:ea typeface="Calibri" pitchFamily="34" charset="-122"/>
                <a:cs typeface="Calibri" pitchFamily="34" charset="-120"/>
              </a:rPr>
              <a:t>כללי דפוסים עם wildcards. לפי עדיפות עם דריסות לכל עבודה.</a:t>
            </a:r>
            <a:endParaRPr lang="en-US" sz="950" dirty="0"/>
          </a:p>
        </p:txBody>
      </p:sp>
      <p:sp>
        <p:nvSpPr>
          <p:cNvPr id="11" name="Shape 7"/>
          <p:cNvSpPr/>
          <p:nvPr/>
        </p:nvSpPr>
        <p:spPr>
          <a:xfrm>
            <a:off x="8366760" y="1005840"/>
            <a:ext cx="457200" cy="457200"/>
          </a:xfrm>
          <a:prstGeom prst="ellipse">
            <a:avLst/>
          </a:prstGeom>
          <a:solidFill>
            <a:srgbClr val="16A34A"/>
          </a:solidFill>
          <a:ln/>
        </p:spPr>
      </p:sp>
      <p:pic>
        <p:nvPicPr>
          <p:cNvPr id="12" name="Image 2" descr="preencoded.png">    </p:cNvPr>
          <p:cNvPicPr>
            <a:picLocks noChangeAspect="1"/>
          </p:cNvPicPr>
          <p:nvPr/>
        </p:nvPicPr>
        <p:blipFill>
          <a:blip r:embed="rId3"/>
          <a:stretch>
            <a:fillRect/>
          </a:stretch>
        </p:blipFill>
        <p:spPr>
          <a:xfrm>
            <a:off x="8458200" y="1097280"/>
            <a:ext cx="274320" cy="274320"/>
          </a:xfrm>
          <a:prstGeom prst="rect">
            <a:avLst/>
          </a:prstGeom>
        </p:spPr>
      </p:pic>
      <p:sp>
        <p:nvSpPr>
          <p:cNvPr id="13" name="Text 8"/>
          <p:cNvSpPr/>
          <p:nvPr/>
        </p:nvSpPr>
        <p:spPr>
          <a:xfrm>
            <a:off x="6126480" y="1005840"/>
            <a:ext cx="2103120" cy="320040"/>
          </a:xfrm>
          <a:prstGeom prst="rect">
            <a:avLst/>
          </a:prstGeom>
          <a:noFill/>
          <a:ln/>
        </p:spPr>
        <p:txBody>
          <a:bodyPr wrap="square" rtlCol="0" anchor="ctr"/>
          <a:lstStyle/>
          <a:p>
            <a:pPr rtl="1" algn="r" indent="0" marL="0">
              <a:buNone/>
            </a:pPr>
            <a:r>
              <a:rPr lang="en-US" sz="1200" b="1" dirty="0">
                <a:solidFill>
                  <a:srgbClr val="1C2B3A"/>
                </a:solidFill>
                <a:latin typeface="Calibri" pitchFamily="34" charset="0"/>
                <a:ea typeface="Calibri" pitchFamily="34" charset="-122"/>
                <a:cs typeface="Calibri" pitchFamily="34" charset="-120"/>
              </a:rPr>
              <a:t>ביצוע תיקון אוטומטי</a:t>
            </a:r>
            <a:endParaRPr lang="en-US" sz="1200" dirty="0"/>
          </a:p>
        </p:txBody>
      </p:sp>
      <p:sp>
        <p:nvSpPr>
          <p:cNvPr id="14" name="Text 9"/>
          <p:cNvSpPr/>
          <p:nvPr/>
        </p:nvSpPr>
        <p:spPr>
          <a:xfrm>
            <a:off x="6126480" y="1371600"/>
            <a:ext cx="2103120" cy="640080"/>
          </a:xfrm>
          <a:prstGeom prst="rect">
            <a:avLst/>
          </a:prstGeom>
          <a:noFill/>
          <a:ln/>
        </p:spPr>
        <p:txBody>
          <a:bodyPr wrap="square" rtlCol="0" anchor="t"/>
          <a:lstStyle/>
          <a:p>
            <a:pPr rtl="1" algn="r" indent="0" marL="0">
              <a:buNone/>
            </a:pPr>
            <a:r>
              <a:rPr lang="en-US" sz="950" dirty="0">
                <a:solidFill>
                  <a:srgbClr val="475569"/>
                </a:solidFill>
                <a:latin typeface="Calibri" pitchFamily="34" charset="0"/>
                <a:ea typeface="Calibri" pitchFamily="34" charset="-122"/>
                <a:cs typeface="Calibri" pitchFamily="34" charset="-120"/>
              </a:rPr>
              <a:t>5 סוגי מבצעים: API, SP, סקריפט, העתקת קבצים, ידני. + מדיניות מורכבת.</a:t>
            </a:r>
            <a:endParaRPr lang="en-US" sz="950" dirty="0"/>
          </a:p>
        </p:txBody>
      </p:sp>
      <p:sp>
        <p:nvSpPr>
          <p:cNvPr id="15" name="Shape 10"/>
          <p:cNvSpPr/>
          <p:nvPr/>
        </p:nvSpPr>
        <p:spPr>
          <a:xfrm>
            <a:off x="2697480" y="2971800"/>
            <a:ext cx="457200" cy="457200"/>
          </a:xfrm>
          <a:prstGeom prst="ellipse">
            <a:avLst/>
          </a:prstGeom>
          <a:solidFill>
            <a:srgbClr val="7C3AED"/>
          </a:solidFill>
          <a:ln/>
        </p:spPr>
      </p:sp>
      <p:pic>
        <p:nvPicPr>
          <p:cNvPr id="16" name="Image 3" descr="preencoded.png">    </p:cNvPr>
          <p:cNvPicPr>
            <a:picLocks noChangeAspect="1"/>
          </p:cNvPicPr>
          <p:nvPr/>
        </p:nvPicPr>
        <p:blipFill>
          <a:blip r:embed="rId4"/>
          <a:stretch>
            <a:fillRect/>
          </a:stretch>
        </p:blipFill>
        <p:spPr>
          <a:xfrm>
            <a:off x="2788920" y="3063240"/>
            <a:ext cx="274320" cy="274320"/>
          </a:xfrm>
          <a:prstGeom prst="rect">
            <a:avLst/>
          </a:prstGeom>
        </p:spPr>
      </p:pic>
      <p:sp>
        <p:nvSpPr>
          <p:cNvPr id="17" name="Text 11"/>
          <p:cNvSpPr/>
          <p:nvPr/>
        </p:nvSpPr>
        <p:spPr>
          <a:xfrm>
            <a:off x="457200" y="2971800"/>
            <a:ext cx="2103120" cy="320040"/>
          </a:xfrm>
          <a:prstGeom prst="rect">
            <a:avLst/>
          </a:prstGeom>
          <a:noFill/>
          <a:ln/>
        </p:spPr>
        <p:txBody>
          <a:bodyPr wrap="square" rtlCol="0" anchor="ctr"/>
          <a:lstStyle/>
          <a:p>
            <a:pPr rtl="1" algn="r" indent="0" marL="0">
              <a:buNone/>
            </a:pPr>
            <a:r>
              <a:rPr lang="en-US" sz="1200" b="1" dirty="0">
                <a:solidFill>
                  <a:srgbClr val="1C2B3A"/>
                </a:solidFill>
                <a:latin typeface="Calibri" pitchFamily="34" charset="0"/>
                <a:ea typeface="Calibri" pitchFamily="34" charset="-122"/>
                <a:cs typeface="Calibri" pitchFamily="34" charset="-120"/>
              </a:rPr>
              <a:t>תיקון עצמי (Auto-Heal)</a:t>
            </a:r>
            <a:endParaRPr lang="en-US" sz="1200" dirty="0"/>
          </a:p>
        </p:txBody>
      </p:sp>
      <p:sp>
        <p:nvSpPr>
          <p:cNvPr id="18" name="Text 12"/>
          <p:cNvSpPr/>
          <p:nvPr/>
        </p:nvSpPr>
        <p:spPr>
          <a:xfrm>
            <a:off x="457200" y="3337560"/>
            <a:ext cx="2103120" cy="640080"/>
          </a:xfrm>
          <a:prstGeom prst="rect">
            <a:avLst/>
          </a:prstGeom>
          <a:noFill/>
          <a:ln/>
        </p:spPr>
        <p:txBody>
          <a:bodyPr wrap="square" rtlCol="0" anchor="t"/>
          <a:lstStyle/>
          <a:p>
            <a:pPr rtl="1" algn="r" indent="0" marL="0">
              <a:buNone/>
            </a:pPr>
            <a:r>
              <a:rPr lang="en-US" sz="950" dirty="0">
                <a:solidFill>
                  <a:srgbClr val="475569"/>
                </a:solidFill>
                <a:latin typeface="Calibri" pitchFamily="34" charset="0"/>
                <a:ea typeface="Calibri" pitchFamily="34" charset="-122"/>
                <a:cs typeface="Calibri" pitchFamily="34" charset="-120"/>
              </a:rPr>
              <a:t>בעיות ידועות נפתרות אוטומטית. נעילה אטומית מונעת ביצוע כפול.</a:t>
            </a:r>
            <a:endParaRPr lang="en-US" sz="950" dirty="0"/>
          </a:p>
        </p:txBody>
      </p:sp>
      <p:sp>
        <p:nvSpPr>
          <p:cNvPr id="19" name="Shape 13"/>
          <p:cNvSpPr/>
          <p:nvPr/>
        </p:nvSpPr>
        <p:spPr>
          <a:xfrm>
            <a:off x="5532120" y="2971800"/>
            <a:ext cx="457200" cy="457200"/>
          </a:xfrm>
          <a:prstGeom prst="ellipse">
            <a:avLst/>
          </a:prstGeom>
          <a:solidFill>
            <a:srgbClr val="EA580C"/>
          </a:solidFill>
          <a:ln/>
        </p:spPr>
      </p:sp>
      <p:pic>
        <p:nvPicPr>
          <p:cNvPr id="20" name="Image 4" descr="preencoded.png">    </p:cNvPr>
          <p:cNvPicPr>
            <a:picLocks noChangeAspect="1"/>
          </p:cNvPicPr>
          <p:nvPr/>
        </p:nvPicPr>
        <p:blipFill>
          <a:blip r:embed="rId5"/>
          <a:stretch>
            <a:fillRect/>
          </a:stretch>
        </p:blipFill>
        <p:spPr>
          <a:xfrm>
            <a:off x="5623560" y="3063240"/>
            <a:ext cx="274320" cy="274320"/>
          </a:xfrm>
          <a:prstGeom prst="rect">
            <a:avLst/>
          </a:prstGeom>
        </p:spPr>
      </p:pic>
      <p:sp>
        <p:nvSpPr>
          <p:cNvPr id="21" name="Text 14"/>
          <p:cNvSpPr/>
          <p:nvPr/>
        </p:nvSpPr>
        <p:spPr>
          <a:xfrm>
            <a:off x="3291840" y="2971800"/>
            <a:ext cx="2103120" cy="320040"/>
          </a:xfrm>
          <a:prstGeom prst="rect">
            <a:avLst/>
          </a:prstGeom>
          <a:noFill/>
          <a:ln/>
        </p:spPr>
        <p:txBody>
          <a:bodyPr wrap="square" rtlCol="0" anchor="ctr"/>
          <a:lstStyle/>
          <a:p>
            <a:pPr rtl="1" algn="r" indent="0" marL="0">
              <a:buNone/>
            </a:pPr>
            <a:r>
              <a:rPr lang="en-US" sz="1200" b="1" dirty="0">
                <a:solidFill>
                  <a:srgbClr val="1C2B3A"/>
                </a:solidFill>
                <a:latin typeface="Calibri" pitchFamily="34" charset="0"/>
                <a:ea typeface="Calibri" pitchFamily="34" charset="-122"/>
                <a:cs typeface="Calibri" pitchFamily="34" charset="-120"/>
              </a:rPr>
              <a:t>לוח בקרה למפעיל</a:t>
            </a:r>
            <a:endParaRPr lang="en-US" sz="1200" dirty="0"/>
          </a:p>
        </p:txBody>
      </p:sp>
      <p:sp>
        <p:nvSpPr>
          <p:cNvPr id="22" name="Text 15"/>
          <p:cNvSpPr/>
          <p:nvPr/>
        </p:nvSpPr>
        <p:spPr>
          <a:xfrm>
            <a:off x="3291840" y="3337560"/>
            <a:ext cx="2103120" cy="640080"/>
          </a:xfrm>
          <a:prstGeom prst="rect">
            <a:avLst/>
          </a:prstGeom>
          <a:noFill/>
          <a:ln/>
        </p:spPr>
        <p:txBody>
          <a:bodyPr wrap="square" rtlCol="0" anchor="t"/>
          <a:lstStyle/>
          <a:p>
            <a:pPr rtl="1" algn="r" indent="0" marL="0">
              <a:buNone/>
            </a:pPr>
            <a:r>
              <a:rPr lang="en-US" sz="950" dirty="0">
                <a:solidFill>
                  <a:srgbClr val="475569"/>
                </a:solidFill>
                <a:latin typeface="Calibri" pitchFamily="34" charset="0"/>
                <a:ea typeface="Calibri" pitchFamily="34" charset="-122"/>
                <a:cs typeface="Calibri" pitchFamily="34" charset="-120"/>
              </a:rPr>
              <a:t>ממשק מודרני: KPI, גרפים, מגירת תקלות, ניווט מקלדת, מצב כהה, פלטת פקודות.</a:t>
            </a:r>
            <a:endParaRPr lang="en-US" sz="950" dirty="0"/>
          </a:p>
        </p:txBody>
      </p:sp>
      <p:sp>
        <p:nvSpPr>
          <p:cNvPr id="23" name="Shape 16"/>
          <p:cNvSpPr/>
          <p:nvPr/>
        </p:nvSpPr>
        <p:spPr>
          <a:xfrm>
            <a:off x="8366760" y="2971800"/>
            <a:ext cx="457200" cy="457200"/>
          </a:xfrm>
          <a:prstGeom prst="ellipse">
            <a:avLst/>
          </a:prstGeom>
          <a:solidFill>
            <a:srgbClr val="1C2B3A"/>
          </a:solidFill>
          <a:ln/>
        </p:spPr>
      </p:sp>
      <p:pic>
        <p:nvPicPr>
          <p:cNvPr id="24" name="Image 5" descr="preencoded.png">    </p:cNvPr>
          <p:cNvPicPr>
            <a:picLocks noChangeAspect="1"/>
          </p:cNvPicPr>
          <p:nvPr/>
        </p:nvPicPr>
        <p:blipFill>
          <a:blip r:embed="rId6"/>
          <a:stretch>
            <a:fillRect/>
          </a:stretch>
        </p:blipFill>
        <p:spPr>
          <a:xfrm>
            <a:off x="8458200" y="3063240"/>
            <a:ext cx="274320" cy="274320"/>
          </a:xfrm>
          <a:prstGeom prst="rect">
            <a:avLst/>
          </a:prstGeom>
        </p:spPr>
      </p:pic>
      <p:sp>
        <p:nvSpPr>
          <p:cNvPr id="25" name="Text 17"/>
          <p:cNvSpPr/>
          <p:nvPr/>
        </p:nvSpPr>
        <p:spPr>
          <a:xfrm>
            <a:off x="6126480" y="2971800"/>
            <a:ext cx="2103120" cy="320040"/>
          </a:xfrm>
          <a:prstGeom prst="rect">
            <a:avLst/>
          </a:prstGeom>
          <a:noFill/>
          <a:ln/>
        </p:spPr>
        <p:txBody>
          <a:bodyPr wrap="square" rtlCol="0" anchor="ctr"/>
          <a:lstStyle/>
          <a:p>
            <a:pPr rtl="1" algn="r" indent="0" marL="0">
              <a:buNone/>
            </a:pPr>
            <a:r>
              <a:rPr lang="en-US" sz="1200" b="1" dirty="0">
                <a:solidFill>
                  <a:srgbClr val="1C2B3A"/>
                </a:solidFill>
                <a:latin typeface="Calibri" pitchFamily="34" charset="0"/>
                <a:ea typeface="Calibri" pitchFamily="34" charset="-122"/>
                <a:cs typeface="Calibri" pitchFamily="34" charset="-120"/>
              </a:rPr>
              <a:t>אבטחה וביקורת</a:t>
            </a:r>
            <a:endParaRPr lang="en-US" sz="1200" dirty="0"/>
          </a:p>
        </p:txBody>
      </p:sp>
      <p:sp>
        <p:nvSpPr>
          <p:cNvPr id="26" name="Text 18"/>
          <p:cNvSpPr/>
          <p:nvPr/>
        </p:nvSpPr>
        <p:spPr>
          <a:xfrm>
            <a:off x="6126480" y="3337560"/>
            <a:ext cx="2103120" cy="640080"/>
          </a:xfrm>
          <a:prstGeom prst="rect">
            <a:avLst/>
          </a:prstGeom>
          <a:noFill/>
          <a:ln/>
        </p:spPr>
        <p:txBody>
          <a:bodyPr wrap="square" rtlCol="0" anchor="t"/>
          <a:lstStyle/>
          <a:p>
            <a:pPr rtl="1" algn="r" indent="0" marL="0">
              <a:buNone/>
            </a:pPr>
            <a:r>
              <a:rPr lang="en-US" sz="950" dirty="0">
                <a:solidFill>
                  <a:srgbClr val="475569"/>
                </a:solidFill>
                <a:latin typeface="Calibri" pitchFamily="34" charset="0"/>
                <a:ea typeface="Calibri" pitchFamily="34" charset="-122"/>
                <a:cs typeface="Calibri" pitchFamily="34" charset="-120"/>
              </a:rPr>
              <a:t>אימות PBKDF2, 3 רמות תפקידים, החלפת סיסמה, יומן בלתי ניתן לשינוי.</a:t>
            </a:r>
            <a:endParaRPr lang="en-US" sz="950" dirty="0"/>
          </a:p>
        </p:txBody>
      </p:sp>
      <p:sp>
        <p:nvSpPr>
          <p:cNvPr id="27" name="Shape 19"/>
          <p:cNvSpPr/>
          <p:nvPr/>
        </p:nvSpPr>
        <p:spPr>
          <a:xfrm>
            <a:off x="0" y="4800600"/>
            <a:ext cx="9144000" cy="342900"/>
          </a:xfrm>
          <a:prstGeom prst="rect">
            <a:avLst/>
          </a:prstGeom>
          <a:solidFill>
            <a:srgbClr val="1C2B3A"/>
          </a:solidFill>
          <a:ln/>
        </p:spPr>
      </p:sp>
      <p:sp>
        <p:nvSpPr>
          <p:cNvPr id="28" name="Text 20"/>
          <p:cNvSpPr/>
          <p:nvPr/>
        </p:nvSpPr>
        <p:spPr>
          <a:xfrm>
            <a:off x="4572000" y="4828032"/>
            <a:ext cx="4297680" cy="274320"/>
          </a:xfrm>
          <a:prstGeom prst="rect">
            <a:avLst/>
          </a:prstGeom>
          <a:noFill/>
          <a:ln/>
        </p:spPr>
        <p:txBody>
          <a:bodyPr wrap="square" lIns="0" tIns="0" rIns="0" bIns="0" rtlCol="0" anchor="ctr"/>
          <a:lstStyle/>
          <a:p>
            <a:pPr rtl="1" algn="r" indent="0" marL="0">
              <a:buNone/>
            </a:pPr>
            <a:r>
              <a:rPr lang="en-US" sz="800" dirty="0">
                <a:solidFill>
                  <a:srgbClr val="94A3B8"/>
                </a:solidFill>
                <a:latin typeface="Calibri" pitchFamily="34" charset="0"/>
                <a:ea typeface="Calibri" pitchFamily="34" charset="-122"/>
                <a:cs typeface="Calibri" pitchFamily="34" charset="-120"/>
              </a:rPr>
              <a:t>MAIA — סקירה למנהלים</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rtlCol="0" anchor="ctr"/>
          <a:lstStyle/>
          <a:p>
            <a:pPr rtl="1" algn="r" indent="0" marL="0">
              <a:buNone/>
            </a:pPr>
            <a:r>
              <a:rPr lang="en-US" sz="2800" b="1" dirty="0">
                <a:solidFill>
                  <a:srgbClr val="1C2B3A"/>
                </a:solidFill>
                <a:latin typeface="Calibri" pitchFamily="34" charset="0"/>
                <a:ea typeface="Calibri" pitchFamily="34" charset="-122"/>
                <a:cs typeface="Calibri" pitchFamily="34" charset="-120"/>
              </a:rPr>
              <a:t>השפעה עסקית</a:t>
            </a:r>
            <a:endParaRPr lang="en-US" sz="2800" dirty="0"/>
          </a:p>
        </p:txBody>
      </p:sp>
      <p:sp>
        <p:nvSpPr>
          <p:cNvPr id="3" name="Shape 1"/>
          <p:cNvSpPr/>
          <p:nvPr/>
        </p:nvSpPr>
        <p:spPr>
          <a:xfrm>
            <a:off x="4846320" y="914400"/>
            <a:ext cx="3840480" cy="384048"/>
          </a:xfrm>
          <a:prstGeom prst="rect">
            <a:avLst/>
          </a:prstGeom>
          <a:solidFill>
            <a:srgbClr val="16A34A"/>
          </a:solidFill>
          <a:ln/>
        </p:spPr>
      </p:sp>
      <p:sp>
        <p:nvSpPr>
          <p:cNvPr id="4" name="Text 2"/>
          <p:cNvSpPr/>
          <p:nvPr/>
        </p:nvSpPr>
        <p:spPr>
          <a:xfrm>
            <a:off x="4846320" y="914400"/>
            <a:ext cx="3840480" cy="384048"/>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עם MAIA</a:t>
            </a:r>
            <a:endParaRPr lang="en-US" sz="1400" dirty="0"/>
          </a:p>
        </p:txBody>
      </p:sp>
      <p:sp>
        <p:nvSpPr>
          <p:cNvPr id="5" name="Text 3"/>
          <p:cNvSpPr/>
          <p:nvPr/>
        </p:nvSpPr>
        <p:spPr>
          <a:xfrm>
            <a:off x="5029200" y="1417320"/>
            <a:ext cx="3474720" cy="320040"/>
          </a:xfrm>
          <a:prstGeom prst="rect">
            <a:avLst/>
          </a:prstGeom>
          <a:noFill/>
          <a:ln/>
        </p:spPr>
        <p:txBody>
          <a:bodyPr wrap="square" rtlCol="0" anchor="ctr"/>
          <a:lstStyle/>
          <a:p>
            <a:pPr rtl="1" algn="r" indent="0" marL="0">
              <a:buNone/>
            </a:pPr>
            <a:r>
              <a:rPr lang="en-US" sz="1000" dirty="0">
                <a:solidFill>
                  <a:srgbClr val="16A34A"/>
                </a:solidFill>
                <a:latin typeface="Calibri" pitchFamily="34" charset="0"/>
                <a:ea typeface="Calibri" pitchFamily="34" charset="-122"/>
                <a:cs typeface="Calibri" pitchFamily="34" charset="-120"/>
              </a:rPr>
              <a:t>✓  ניטור אוטומטי רציף 24/7</a:t>
            </a:r>
            <a:endParaRPr lang="en-US" sz="1000" dirty="0"/>
          </a:p>
        </p:txBody>
      </p:sp>
      <p:sp>
        <p:nvSpPr>
          <p:cNvPr id="6" name="Text 4"/>
          <p:cNvSpPr/>
          <p:nvPr/>
        </p:nvSpPr>
        <p:spPr>
          <a:xfrm>
            <a:off x="5029200" y="1764792"/>
            <a:ext cx="3474720" cy="320040"/>
          </a:xfrm>
          <a:prstGeom prst="rect">
            <a:avLst/>
          </a:prstGeom>
          <a:noFill/>
          <a:ln/>
        </p:spPr>
        <p:txBody>
          <a:bodyPr wrap="square" rtlCol="0" anchor="ctr"/>
          <a:lstStyle/>
          <a:p>
            <a:pPr rtl="1" algn="r" indent="0" marL="0">
              <a:buNone/>
            </a:pPr>
            <a:r>
              <a:rPr lang="en-US" sz="1000" dirty="0">
                <a:solidFill>
                  <a:srgbClr val="16A34A"/>
                </a:solidFill>
                <a:latin typeface="Calibri" pitchFamily="34" charset="0"/>
                <a:ea typeface="Calibri" pitchFamily="34" charset="-122"/>
                <a:cs typeface="Calibri" pitchFamily="34" charset="-120"/>
              </a:rPr>
              <a:t>✓  תקלות מזוהות ומסווגות בשניות</a:t>
            </a:r>
            <a:endParaRPr lang="en-US" sz="1000" dirty="0"/>
          </a:p>
        </p:txBody>
      </p:sp>
      <p:sp>
        <p:nvSpPr>
          <p:cNvPr id="7" name="Text 5"/>
          <p:cNvSpPr/>
          <p:nvPr/>
        </p:nvSpPr>
        <p:spPr>
          <a:xfrm>
            <a:off x="5029200" y="2112264"/>
            <a:ext cx="3474720" cy="320040"/>
          </a:xfrm>
          <a:prstGeom prst="rect">
            <a:avLst/>
          </a:prstGeom>
          <a:noFill/>
          <a:ln/>
        </p:spPr>
        <p:txBody>
          <a:bodyPr wrap="square" rtlCol="0" anchor="ctr"/>
          <a:lstStyle/>
          <a:p>
            <a:pPr rtl="1" algn="r" indent="0" marL="0">
              <a:buNone/>
            </a:pPr>
            <a:r>
              <a:rPr lang="en-US" sz="1000" dirty="0">
                <a:solidFill>
                  <a:srgbClr val="16A34A"/>
                </a:solidFill>
                <a:latin typeface="Calibri" pitchFamily="34" charset="0"/>
                <a:ea typeface="Calibri" pitchFamily="34" charset="-122"/>
                <a:cs typeface="Calibri" pitchFamily="34" charset="-120"/>
              </a:rPr>
              <a:t>✓  בעיות ידועות נפתרות אוטומטית</a:t>
            </a:r>
            <a:endParaRPr lang="en-US" sz="1000" dirty="0"/>
          </a:p>
        </p:txBody>
      </p:sp>
      <p:sp>
        <p:nvSpPr>
          <p:cNvPr id="8" name="Text 6"/>
          <p:cNvSpPr/>
          <p:nvPr/>
        </p:nvSpPr>
        <p:spPr>
          <a:xfrm>
            <a:off x="5029200" y="2459736"/>
            <a:ext cx="3474720" cy="320040"/>
          </a:xfrm>
          <a:prstGeom prst="rect">
            <a:avLst/>
          </a:prstGeom>
          <a:noFill/>
          <a:ln/>
        </p:spPr>
        <p:txBody>
          <a:bodyPr wrap="square" rtlCol="0" anchor="ctr"/>
          <a:lstStyle/>
          <a:p>
            <a:pPr rtl="1" algn="r" indent="0" marL="0">
              <a:buNone/>
            </a:pPr>
            <a:r>
              <a:rPr lang="en-US" sz="1000" dirty="0">
                <a:solidFill>
                  <a:srgbClr val="16A34A"/>
                </a:solidFill>
                <a:latin typeface="Calibri" pitchFamily="34" charset="0"/>
                <a:ea typeface="Calibri" pitchFamily="34" charset="-122"/>
                <a:cs typeface="Calibri" pitchFamily="34" charset="-120"/>
              </a:rPr>
              <a:t>✓  כל פעולה ביומן בלתי ניתן לשינוי</a:t>
            </a:r>
            <a:endParaRPr lang="en-US" sz="1000" dirty="0"/>
          </a:p>
        </p:txBody>
      </p:sp>
      <p:sp>
        <p:nvSpPr>
          <p:cNvPr id="9" name="Text 7"/>
          <p:cNvSpPr/>
          <p:nvPr/>
        </p:nvSpPr>
        <p:spPr>
          <a:xfrm>
            <a:off x="5029200" y="2807208"/>
            <a:ext cx="3474720" cy="320040"/>
          </a:xfrm>
          <a:prstGeom prst="rect">
            <a:avLst/>
          </a:prstGeom>
          <a:noFill/>
          <a:ln/>
        </p:spPr>
        <p:txBody>
          <a:bodyPr wrap="square" rtlCol="0" anchor="ctr"/>
          <a:lstStyle/>
          <a:p>
            <a:pPr rtl="1" algn="r" indent="0" marL="0">
              <a:buNone/>
            </a:pPr>
            <a:r>
              <a:rPr lang="en-US" sz="1000" dirty="0">
                <a:solidFill>
                  <a:srgbClr val="16A34A"/>
                </a:solidFill>
                <a:latin typeface="Calibri" pitchFamily="34" charset="0"/>
                <a:ea typeface="Calibri" pitchFamily="34" charset="-122"/>
                <a:cs typeface="Calibri" pitchFamily="34" charset="-120"/>
              </a:rPr>
              <a:t>✓  לוח בקרה בזמן אמת עם KPI וגרפים</a:t>
            </a:r>
            <a:endParaRPr lang="en-US" sz="1000" dirty="0"/>
          </a:p>
        </p:txBody>
      </p:sp>
      <p:sp>
        <p:nvSpPr>
          <p:cNvPr id="10" name="Text 8"/>
          <p:cNvSpPr/>
          <p:nvPr/>
        </p:nvSpPr>
        <p:spPr>
          <a:xfrm>
            <a:off x="5029200" y="3154680"/>
            <a:ext cx="3474720" cy="320040"/>
          </a:xfrm>
          <a:prstGeom prst="rect">
            <a:avLst/>
          </a:prstGeom>
          <a:noFill/>
          <a:ln/>
        </p:spPr>
        <p:txBody>
          <a:bodyPr wrap="square" rtlCol="0" anchor="ctr"/>
          <a:lstStyle/>
          <a:p>
            <a:pPr rtl="1" algn="r" indent="0" marL="0">
              <a:buNone/>
            </a:pPr>
            <a:r>
              <a:rPr lang="en-US" sz="1000" dirty="0">
                <a:solidFill>
                  <a:srgbClr val="16A34A"/>
                </a:solidFill>
                <a:latin typeface="Calibri" pitchFamily="34" charset="0"/>
                <a:ea typeface="Calibri" pitchFamily="34" charset="-122"/>
                <a:cs typeface="Calibri" pitchFamily="34" charset="-120"/>
              </a:rPr>
              <a:t>✓  ידע מקודד בכללים מוגדרים</a:t>
            </a:r>
            <a:endParaRPr lang="en-US" sz="1000" dirty="0"/>
          </a:p>
        </p:txBody>
      </p:sp>
      <p:sp>
        <p:nvSpPr>
          <p:cNvPr id="11" name="Text 9"/>
          <p:cNvSpPr/>
          <p:nvPr/>
        </p:nvSpPr>
        <p:spPr>
          <a:xfrm>
            <a:off x="5029200" y="3502152"/>
            <a:ext cx="3474720" cy="320040"/>
          </a:xfrm>
          <a:prstGeom prst="rect">
            <a:avLst/>
          </a:prstGeom>
          <a:noFill/>
          <a:ln/>
        </p:spPr>
        <p:txBody>
          <a:bodyPr wrap="square" rtlCol="0" anchor="ctr"/>
          <a:lstStyle/>
          <a:p>
            <a:pPr rtl="1" algn="r" indent="0" marL="0">
              <a:buNone/>
            </a:pPr>
            <a:r>
              <a:rPr lang="en-US" sz="1000" dirty="0">
                <a:solidFill>
                  <a:srgbClr val="16A34A"/>
                </a:solidFill>
                <a:latin typeface="Calibri" pitchFamily="34" charset="0"/>
                <a:ea typeface="Calibri" pitchFamily="34" charset="-122"/>
                <a:cs typeface="Calibri" pitchFamily="34" charset="-120"/>
              </a:rPr>
              <a:t>✓  אימות מבוסס 3 רמות תפקידים</a:t>
            </a:r>
            <a:endParaRPr lang="en-US" sz="1000" dirty="0"/>
          </a:p>
        </p:txBody>
      </p:sp>
      <p:sp>
        <p:nvSpPr>
          <p:cNvPr id="12" name="Shape 10"/>
          <p:cNvSpPr/>
          <p:nvPr/>
        </p:nvSpPr>
        <p:spPr>
          <a:xfrm>
            <a:off x="457200" y="914400"/>
            <a:ext cx="3840480" cy="384048"/>
          </a:xfrm>
          <a:prstGeom prst="rect">
            <a:avLst/>
          </a:prstGeom>
          <a:solidFill>
            <a:srgbClr val="DC2626"/>
          </a:solidFill>
          <a:ln/>
        </p:spPr>
      </p:sp>
      <p:sp>
        <p:nvSpPr>
          <p:cNvPr id="13" name="Text 11"/>
          <p:cNvSpPr/>
          <p:nvPr/>
        </p:nvSpPr>
        <p:spPr>
          <a:xfrm>
            <a:off x="457200" y="914400"/>
            <a:ext cx="3840480" cy="384048"/>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לפני MAIA</a:t>
            </a:r>
            <a:endParaRPr lang="en-US" sz="1400" dirty="0"/>
          </a:p>
        </p:txBody>
      </p:sp>
      <p:sp>
        <p:nvSpPr>
          <p:cNvPr id="14" name="Text 12"/>
          <p:cNvSpPr/>
          <p:nvPr/>
        </p:nvSpPr>
        <p:spPr>
          <a:xfrm>
            <a:off x="640080" y="1417320"/>
            <a:ext cx="3474720" cy="320040"/>
          </a:xfrm>
          <a:prstGeom prst="rect">
            <a:avLst/>
          </a:prstGeom>
          <a:noFill/>
          <a:ln/>
        </p:spPr>
        <p:txBody>
          <a:bodyPr wrap="square" rtlCol="0" anchor="ctr"/>
          <a:lstStyle/>
          <a:p>
            <a:pPr rtl="1" algn="r" indent="0" marL="0">
              <a:buNone/>
            </a:pPr>
            <a:r>
              <a:rPr lang="en-US" sz="1000" dirty="0">
                <a:solidFill>
                  <a:srgbClr val="DC2626"/>
                </a:solidFill>
                <a:latin typeface="Calibri" pitchFamily="34" charset="0"/>
                <a:ea typeface="Calibri" pitchFamily="34" charset="-122"/>
                <a:cs typeface="Calibri" pitchFamily="34" charset="-120"/>
              </a:rPr>
              <a:t>✕  סריקת לוגים ידנית כל בוקר</a:t>
            </a:r>
            <a:endParaRPr lang="en-US" sz="1000" dirty="0"/>
          </a:p>
        </p:txBody>
      </p:sp>
      <p:sp>
        <p:nvSpPr>
          <p:cNvPr id="15" name="Text 13"/>
          <p:cNvSpPr/>
          <p:nvPr/>
        </p:nvSpPr>
        <p:spPr>
          <a:xfrm>
            <a:off x="640080" y="1764792"/>
            <a:ext cx="3474720" cy="320040"/>
          </a:xfrm>
          <a:prstGeom prst="rect">
            <a:avLst/>
          </a:prstGeom>
          <a:noFill/>
          <a:ln/>
        </p:spPr>
        <p:txBody>
          <a:bodyPr wrap="square" rtlCol="0" anchor="ctr"/>
          <a:lstStyle/>
          <a:p>
            <a:pPr rtl="1" algn="r" indent="0" marL="0">
              <a:buNone/>
            </a:pPr>
            <a:r>
              <a:rPr lang="en-US" sz="1000" dirty="0">
                <a:solidFill>
                  <a:srgbClr val="DC2626"/>
                </a:solidFill>
                <a:latin typeface="Calibri" pitchFamily="34" charset="0"/>
                <a:ea typeface="Calibri" pitchFamily="34" charset="-122"/>
                <a:cs typeface="Calibri" pitchFamily="34" charset="-120"/>
              </a:rPr>
              <a:t>✕  שעות לזיהוי שורש הבעיה</a:t>
            </a:r>
            <a:endParaRPr lang="en-US" sz="1000" dirty="0"/>
          </a:p>
        </p:txBody>
      </p:sp>
      <p:sp>
        <p:nvSpPr>
          <p:cNvPr id="16" name="Text 14"/>
          <p:cNvSpPr/>
          <p:nvPr/>
        </p:nvSpPr>
        <p:spPr>
          <a:xfrm>
            <a:off x="640080" y="2112264"/>
            <a:ext cx="3474720" cy="320040"/>
          </a:xfrm>
          <a:prstGeom prst="rect">
            <a:avLst/>
          </a:prstGeom>
          <a:noFill/>
          <a:ln/>
        </p:spPr>
        <p:txBody>
          <a:bodyPr wrap="square" rtlCol="0" anchor="ctr"/>
          <a:lstStyle/>
          <a:p>
            <a:pPr rtl="1" algn="r" indent="0" marL="0">
              <a:buNone/>
            </a:pPr>
            <a:r>
              <a:rPr lang="en-US" sz="1000" dirty="0">
                <a:solidFill>
                  <a:srgbClr val="DC2626"/>
                </a:solidFill>
                <a:latin typeface="Calibri" pitchFamily="34" charset="0"/>
                <a:ea typeface="Calibri" pitchFamily="34" charset="-122"/>
                <a:cs typeface="Calibri" pitchFamily="34" charset="-120"/>
              </a:rPr>
              <a:t>✕  אותם תיקונים חוזרים יום-יום</a:t>
            </a:r>
            <a:endParaRPr lang="en-US" sz="1000" dirty="0"/>
          </a:p>
        </p:txBody>
      </p:sp>
      <p:sp>
        <p:nvSpPr>
          <p:cNvPr id="17" name="Text 15"/>
          <p:cNvSpPr/>
          <p:nvPr/>
        </p:nvSpPr>
        <p:spPr>
          <a:xfrm>
            <a:off x="640080" y="2459736"/>
            <a:ext cx="3474720" cy="320040"/>
          </a:xfrm>
          <a:prstGeom prst="rect">
            <a:avLst/>
          </a:prstGeom>
          <a:noFill/>
          <a:ln/>
        </p:spPr>
        <p:txBody>
          <a:bodyPr wrap="square" rtlCol="0" anchor="ctr"/>
          <a:lstStyle/>
          <a:p>
            <a:pPr rtl="1" algn="r" indent="0" marL="0">
              <a:buNone/>
            </a:pPr>
            <a:r>
              <a:rPr lang="en-US" sz="1000" dirty="0">
                <a:solidFill>
                  <a:srgbClr val="DC2626"/>
                </a:solidFill>
                <a:latin typeface="Calibri" pitchFamily="34" charset="0"/>
                <a:ea typeface="Calibri" pitchFamily="34" charset="-122"/>
                <a:cs typeface="Calibri" pitchFamily="34" charset="-120"/>
              </a:rPr>
              <a:t>✕  היסטוריית תיקונים בגיליון אלקטרוני</a:t>
            </a:r>
            <a:endParaRPr lang="en-US" sz="1000" dirty="0"/>
          </a:p>
        </p:txBody>
      </p:sp>
      <p:sp>
        <p:nvSpPr>
          <p:cNvPr id="18" name="Text 16"/>
          <p:cNvSpPr/>
          <p:nvPr/>
        </p:nvSpPr>
        <p:spPr>
          <a:xfrm>
            <a:off x="640080" y="2807208"/>
            <a:ext cx="3474720" cy="320040"/>
          </a:xfrm>
          <a:prstGeom prst="rect">
            <a:avLst/>
          </a:prstGeom>
          <a:noFill/>
          <a:ln/>
        </p:spPr>
        <p:txBody>
          <a:bodyPr wrap="square" rtlCol="0" anchor="ctr"/>
          <a:lstStyle/>
          <a:p>
            <a:pPr rtl="1" algn="r" indent="0" marL="0">
              <a:buNone/>
            </a:pPr>
            <a:r>
              <a:rPr lang="en-US" sz="1000" dirty="0">
                <a:solidFill>
                  <a:srgbClr val="DC2626"/>
                </a:solidFill>
                <a:latin typeface="Calibri" pitchFamily="34" charset="0"/>
                <a:ea typeface="Calibri" pitchFamily="34" charset="-122"/>
                <a:cs typeface="Calibri" pitchFamily="34" charset="-120"/>
              </a:rPr>
              <a:t>✕  אין נראות לתקלות לילה</a:t>
            </a:r>
            <a:endParaRPr lang="en-US" sz="1000" dirty="0"/>
          </a:p>
        </p:txBody>
      </p:sp>
      <p:sp>
        <p:nvSpPr>
          <p:cNvPr id="19" name="Text 17"/>
          <p:cNvSpPr/>
          <p:nvPr/>
        </p:nvSpPr>
        <p:spPr>
          <a:xfrm>
            <a:off x="640080" y="3154680"/>
            <a:ext cx="3474720" cy="320040"/>
          </a:xfrm>
          <a:prstGeom prst="rect">
            <a:avLst/>
          </a:prstGeom>
          <a:noFill/>
          <a:ln/>
        </p:spPr>
        <p:txBody>
          <a:bodyPr wrap="square" rtlCol="0" anchor="ctr"/>
          <a:lstStyle/>
          <a:p>
            <a:pPr rtl="1" algn="r" indent="0" marL="0">
              <a:buNone/>
            </a:pPr>
            <a:r>
              <a:rPr lang="en-US" sz="1000" dirty="0">
                <a:solidFill>
                  <a:srgbClr val="DC2626"/>
                </a:solidFill>
                <a:latin typeface="Calibri" pitchFamily="34" charset="0"/>
                <a:ea typeface="Calibri" pitchFamily="34" charset="-122"/>
                <a:cs typeface="Calibri" pitchFamily="34" charset="-120"/>
              </a:rPr>
              <a:t>✕  תלות בידע של מפעיל בודד</a:t>
            </a:r>
            <a:endParaRPr lang="en-US" sz="1000" dirty="0"/>
          </a:p>
        </p:txBody>
      </p:sp>
      <p:sp>
        <p:nvSpPr>
          <p:cNvPr id="20" name="Text 18"/>
          <p:cNvSpPr/>
          <p:nvPr/>
        </p:nvSpPr>
        <p:spPr>
          <a:xfrm>
            <a:off x="640080" y="3502152"/>
            <a:ext cx="3474720" cy="320040"/>
          </a:xfrm>
          <a:prstGeom prst="rect">
            <a:avLst/>
          </a:prstGeom>
          <a:noFill/>
          <a:ln/>
        </p:spPr>
        <p:txBody>
          <a:bodyPr wrap="square" rtlCol="0" anchor="ctr"/>
          <a:lstStyle/>
          <a:p>
            <a:pPr rtl="1" algn="r" indent="0" marL="0">
              <a:buNone/>
            </a:pPr>
            <a:r>
              <a:rPr lang="en-US" sz="1000" dirty="0">
                <a:solidFill>
                  <a:srgbClr val="DC2626"/>
                </a:solidFill>
                <a:latin typeface="Calibri" pitchFamily="34" charset="0"/>
                <a:ea typeface="Calibri" pitchFamily="34" charset="-122"/>
                <a:cs typeface="Calibri" pitchFamily="34" charset="-120"/>
              </a:rPr>
              <a:t>✕  ללא בקרת גישה על פעולות</a:t>
            </a:r>
            <a:endParaRPr lang="en-US" sz="1000" dirty="0"/>
          </a:p>
        </p:txBody>
      </p:sp>
      <p:sp>
        <p:nvSpPr>
          <p:cNvPr id="21" name="Shape 19"/>
          <p:cNvSpPr/>
          <p:nvPr/>
        </p:nvSpPr>
        <p:spPr>
          <a:xfrm>
            <a:off x="457200" y="3931920"/>
            <a:ext cx="8229600" cy="868680"/>
          </a:xfrm>
          <a:prstGeom prst="rect">
            <a:avLst/>
          </a:prstGeom>
          <a:solidFill>
            <a:srgbClr val="F1F5F9"/>
          </a:solidFill>
          <a:ln/>
        </p:spPr>
      </p:sp>
      <p:sp>
        <p:nvSpPr>
          <p:cNvPr id="22" name="Text 20"/>
          <p:cNvSpPr/>
          <p:nvPr/>
        </p:nvSpPr>
        <p:spPr>
          <a:xfrm>
            <a:off x="731520" y="3950208"/>
            <a:ext cx="1645920" cy="384048"/>
          </a:xfrm>
          <a:prstGeom prst="rect">
            <a:avLst/>
          </a:prstGeom>
          <a:noFill/>
          <a:ln/>
        </p:spPr>
        <p:txBody>
          <a:bodyPr wrap="square" rtlCol="0" anchor="ctr"/>
          <a:lstStyle/>
          <a:p>
            <a:pPr algn="ctr" indent="0" marL="0">
              <a:buNone/>
            </a:pPr>
            <a:r>
              <a:rPr lang="en-US" sz="2400" b="1" dirty="0">
                <a:solidFill>
                  <a:srgbClr val="2563EB"/>
                </a:solidFill>
                <a:latin typeface="Calibri" pitchFamily="34" charset="0"/>
                <a:ea typeface="Calibri" pitchFamily="34" charset="-122"/>
                <a:cs typeface="Calibri" pitchFamily="34" charset="-120"/>
              </a:rPr>
              <a:t>90%</a:t>
            </a:r>
            <a:endParaRPr lang="en-US" sz="2400" dirty="0"/>
          </a:p>
        </p:txBody>
      </p:sp>
      <p:sp>
        <p:nvSpPr>
          <p:cNvPr id="23" name="Text 21"/>
          <p:cNvSpPr/>
          <p:nvPr/>
        </p:nvSpPr>
        <p:spPr>
          <a:xfrm>
            <a:off x="731520" y="4334256"/>
            <a:ext cx="1645920" cy="384048"/>
          </a:xfrm>
          <a:prstGeom prst="rect">
            <a:avLst/>
          </a:prstGeom>
          <a:noFill/>
          <a:ln/>
        </p:spPr>
        <p:txBody>
          <a:bodyPr wrap="square" rtlCol="0" anchor="ctr"/>
          <a:lstStyle/>
          <a:p>
            <a:pPr rtl="1" algn="ctr" indent="0" marL="0">
              <a:buNone/>
            </a:pPr>
            <a:r>
              <a:rPr lang="en-US" sz="900" dirty="0">
                <a:solidFill>
                  <a:srgbClr val="475569"/>
                </a:solidFill>
                <a:latin typeface="Calibri" pitchFamily="34" charset="0"/>
                <a:ea typeface="Calibri" pitchFamily="34" charset="-122"/>
                <a:cs typeface="Calibri" pitchFamily="34" charset="-120"/>
              </a:rPr>
              <a:t>פחות זמן סקירה</a:t>
            </a:r>
            <a:endParaRPr lang="en-US" sz="900" dirty="0"/>
          </a:p>
          <a:p>
            <a:pPr rtl="1" algn="ctr" indent="0" marL="0">
              <a:buNone/>
            </a:pPr>
            <a:r>
              <a:rPr lang="en-US" sz="900" dirty="0">
                <a:solidFill>
                  <a:srgbClr val="475569"/>
                </a:solidFill>
                <a:latin typeface="Calibri" pitchFamily="34" charset="0"/>
                <a:ea typeface="Calibri" pitchFamily="34" charset="-122"/>
                <a:cs typeface="Calibri" pitchFamily="34" charset="-120"/>
              </a:rPr>
              <a:t>ידנית של לוגים</a:t>
            </a:r>
            <a:endParaRPr lang="en-US" sz="900" dirty="0"/>
          </a:p>
        </p:txBody>
      </p:sp>
      <p:sp>
        <p:nvSpPr>
          <p:cNvPr id="24" name="Text 22"/>
          <p:cNvSpPr/>
          <p:nvPr/>
        </p:nvSpPr>
        <p:spPr>
          <a:xfrm>
            <a:off x="2788920" y="3950208"/>
            <a:ext cx="1645920" cy="384048"/>
          </a:xfrm>
          <a:prstGeom prst="rect">
            <a:avLst/>
          </a:prstGeom>
          <a:noFill/>
          <a:ln/>
        </p:spPr>
        <p:txBody>
          <a:bodyPr wrap="square" rtlCol="0" anchor="ctr"/>
          <a:lstStyle/>
          <a:p>
            <a:pPr algn="ctr" indent="0" marL="0">
              <a:buNone/>
            </a:pPr>
            <a:r>
              <a:rPr lang="en-US" sz="2400" b="1" dirty="0">
                <a:solidFill>
                  <a:srgbClr val="2563EB"/>
                </a:solidFill>
                <a:latin typeface="Calibri" pitchFamily="34" charset="0"/>
                <a:ea typeface="Calibri" pitchFamily="34" charset="-122"/>
                <a:cs typeface="Calibri" pitchFamily="34" charset="-120"/>
              </a:rPr>
              <a:t>24/7</a:t>
            </a:r>
            <a:endParaRPr lang="en-US" sz="2400" dirty="0"/>
          </a:p>
        </p:txBody>
      </p:sp>
      <p:sp>
        <p:nvSpPr>
          <p:cNvPr id="25" name="Text 23"/>
          <p:cNvSpPr/>
          <p:nvPr/>
        </p:nvSpPr>
        <p:spPr>
          <a:xfrm>
            <a:off x="2788920" y="4334256"/>
            <a:ext cx="1645920" cy="384048"/>
          </a:xfrm>
          <a:prstGeom prst="rect">
            <a:avLst/>
          </a:prstGeom>
          <a:noFill/>
          <a:ln/>
        </p:spPr>
        <p:txBody>
          <a:bodyPr wrap="square" rtlCol="0" anchor="ctr"/>
          <a:lstStyle/>
          <a:p>
            <a:pPr rtl="1" algn="ctr" indent="0" marL="0">
              <a:buNone/>
            </a:pPr>
            <a:r>
              <a:rPr lang="en-US" sz="900" dirty="0">
                <a:solidFill>
                  <a:srgbClr val="475569"/>
                </a:solidFill>
                <a:latin typeface="Calibri" pitchFamily="34" charset="0"/>
                <a:ea typeface="Calibri" pitchFamily="34" charset="-122"/>
                <a:cs typeface="Calibri" pitchFamily="34" charset="-120"/>
              </a:rPr>
              <a:t>ניטור</a:t>
            </a:r>
            <a:endParaRPr lang="en-US" sz="900" dirty="0"/>
          </a:p>
          <a:p>
            <a:pPr rtl="1" algn="ctr" indent="0" marL="0">
              <a:buNone/>
            </a:pPr>
            <a:r>
              <a:rPr lang="en-US" sz="900" dirty="0">
                <a:solidFill>
                  <a:srgbClr val="475569"/>
                </a:solidFill>
                <a:latin typeface="Calibri" pitchFamily="34" charset="0"/>
                <a:ea typeface="Calibri" pitchFamily="34" charset="-122"/>
                <a:cs typeface="Calibri" pitchFamily="34" charset="-120"/>
              </a:rPr>
              <a:t>רציף</a:t>
            </a:r>
            <a:endParaRPr lang="en-US" sz="900" dirty="0"/>
          </a:p>
        </p:txBody>
      </p:sp>
      <p:sp>
        <p:nvSpPr>
          <p:cNvPr id="26" name="Text 24"/>
          <p:cNvSpPr/>
          <p:nvPr/>
        </p:nvSpPr>
        <p:spPr>
          <a:xfrm>
            <a:off x="4846320" y="3950208"/>
            <a:ext cx="1645920" cy="384048"/>
          </a:xfrm>
          <a:prstGeom prst="rect">
            <a:avLst/>
          </a:prstGeom>
          <a:noFill/>
          <a:ln/>
        </p:spPr>
        <p:txBody>
          <a:bodyPr wrap="square" rtlCol="0" anchor="ctr"/>
          <a:lstStyle/>
          <a:p>
            <a:pPr algn="ctr" indent="0" marL="0">
              <a:buNone/>
            </a:pPr>
            <a:r>
              <a:rPr lang="en-US" sz="2400" b="1" dirty="0">
                <a:solidFill>
                  <a:srgbClr val="2563EB"/>
                </a:solidFill>
                <a:latin typeface="Calibri" pitchFamily="34" charset="0"/>
                <a:ea typeface="Calibri" pitchFamily="34" charset="-122"/>
                <a:cs typeface="Calibri" pitchFamily="34" charset="-120"/>
              </a:rPr>
              <a:t>100%</a:t>
            </a:r>
            <a:endParaRPr lang="en-US" sz="2400" dirty="0"/>
          </a:p>
        </p:txBody>
      </p:sp>
      <p:sp>
        <p:nvSpPr>
          <p:cNvPr id="27" name="Text 25"/>
          <p:cNvSpPr/>
          <p:nvPr/>
        </p:nvSpPr>
        <p:spPr>
          <a:xfrm>
            <a:off x="4846320" y="4334256"/>
            <a:ext cx="1645920" cy="384048"/>
          </a:xfrm>
          <a:prstGeom prst="rect">
            <a:avLst/>
          </a:prstGeom>
          <a:noFill/>
          <a:ln/>
        </p:spPr>
        <p:txBody>
          <a:bodyPr wrap="square" rtlCol="0" anchor="ctr"/>
          <a:lstStyle/>
          <a:p>
            <a:pPr rtl="1" algn="ctr" indent="0" marL="0">
              <a:buNone/>
            </a:pPr>
            <a:r>
              <a:rPr lang="en-US" sz="900" dirty="0">
                <a:solidFill>
                  <a:srgbClr val="475569"/>
                </a:solidFill>
                <a:latin typeface="Calibri" pitchFamily="34" charset="0"/>
                <a:ea typeface="Calibri" pitchFamily="34" charset="-122"/>
                <a:cs typeface="Calibri" pitchFamily="34" charset="-120"/>
              </a:rPr>
              <a:t>כיסוי מסלול</a:t>
            </a:r>
            <a:endParaRPr lang="en-US" sz="900" dirty="0"/>
          </a:p>
          <a:p>
            <a:pPr rtl="1" algn="ctr" indent="0" marL="0">
              <a:buNone/>
            </a:pPr>
            <a:r>
              <a:rPr lang="en-US" sz="900" dirty="0">
                <a:solidFill>
                  <a:srgbClr val="475569"/>
                </a:solidFill>
                <a:latin typeface="Calibri" pitchFamily="34" charset="0"/>
                <a:ea typeface="Calibri" pitchFamily="34" charset="-122"/>
                <a:cs typeface="Calibri" pitchFamily="34" charset="-120"/>
              </a:rPr>
              <a:t>ביקורת</a:t>
            </a:r>
            <a:endParaRPr lang="en-US" sz="900" dirty="0"/>
          </a:p>
        </p:txBody>
      </p:sp>
      <p:sp>
        <p:nvSpPr>
          <p:cNvPr id="28" name="Text 26"/>
          <p:cNvSpPr/>
          <p:nvPr/>
        </p:nvSpPr>
        <p:spPr>
          <a:xfrm>
            <a:off x="6903720" y="3950208"/>
            <a:ext cx="1645920" cy="384048"/>
          </a:xfrm>
          <a:prstGeom prst="rect">
            <a:avLst/>
          </a:prstGeom>
          <a:noFill/>
          <a:ln/>
        </p:spPr>
        <p:txBody>
          <a:bodyPr wrap="square" rtlCol="0" anchor="ctr"/>
          <a:lstStyle/>
          <a:p>
            <a:pPr algn="ctr" indent="0" marL="0">
              <a:buNone/>
            </a:pPr>
            <a:r>
              <a:rPr lang="en-US" sz="2400" b="1" dirty="0">
                <a:solidFill>
                  <a:srgbClr val="2563EB"/>
                </a:solidFill>
                <a:latin typeface="Calibri" pitchFamily="34" charset="0"/>
                <a:ea typeface="Calibri" pitchFamily="34" charset="-122"/>
                <a:cs typeface="Calibri" pitchFamily="34" charset="-120"/>
              </a:rPr>
              <a:t>5&gt; דק'</a:t>
            </a:r>
            <a:endParaRPr lang="en-US" sz="2400" dirty="0"/>
          </a:p>
        </p:txBody>
      </p:sp>
      <p:sp>
        <p:nvSpPr>
          <p:cNvPr id="29" name="Text 27"/>
          <p:cNvSpPr/>
          <p:nvPr/>
        </p:nvSpPr>
        <p:spPr>
          <a:xfrm>
            <a:off x="6903720" y="4334256"/>
            <a:ext cx="1645920" cy="384048"/>
          </a:xfrm>
          <a:prstGeom prst="rect">
            <a:avLst/>
          </a:prstGeom>
          <a:noFill/>
          <a:ln/>
        </p:spPr>
        <p:txBody>
          <a:bodyPr wrap="square" rtlCol="0" anchor="ctr"/>
          <a:lstStyle/>
          <a:p>
            <a:pPr rtl="1" algn="ctr" indent="0" marL="0">
              <a:buNone/>
            </a:pPr>
            <a:r>
              <a:rPr lang="en-US" sz="900" dirty="0">
                <a:solidFill>
                  <a:srgbClr val="475569"/>
                </a:solidFill>
                <a:latin typeface="Calibri" pitchFamily="34" charset="0"/>
                <a:ea typeface="Calibri" pitchFamily="34" charset="-122"/>
                <a:cs typeface="Calibri" pitchFamily="34" charset="-120"/>
              </a:rPr>
              <a:t>זמן סקירת</a:t>
            </a:r>
            <a:endParaRPr lang="en-US" sz="900" dirty="0"/>
          </a:p>
          <a:p>
            <a:pPr rtl="1" algn="ctr" indent="0" marL="0">
              <a:buNone/>
            </a:pPr>
            <a:r>
              <a:rPr lang="en-US" sz="900" dirty="0">
                <a:solidFill>
                  <a:srgbClr val="475569"/>
                </a:solidFill>
                <a:latin typeface="Calibri" pitchFamily="34" charset="0"/>
                <a:ea typeface="Calibri" pitchFamily="34" charset="-122"/>
                <a:cs typeface="Calibri" pitchFamily="34" charset="-120"/>
              </a:rPr>
              <a:t>משמרת מפעיל</a:t>
            </a:r>
            <a:endParaRPr lang="en-US" sz="900" dirty="0"/>
          </a:p>
        </p:txBody>
      </p:sp>
      <p:sp>
        <p:nvSpPr>
          <p:cNvPr id="30" name="Shape 28"/>
          <p:cNvSpPr/>
          <p:nvPr/>
        </p:nvSpPr>
        <p:spPr>
          <a:xfrm>
            <a:off x="0" y="4800600"/>
            <a:ext cx="9144000" cy="342900"/>
          </a:xfrm>
          <a:prstGeom prst="rect">
            <a:avLst/>
          </a:prstGeom>
          <a:solidFill>
            <a:srgbClr val="1C2B3A"/>
          </a:solidFill>
          <a:ln/>
        </p:spPr>
      </p:sp>
      <p:sp>
        <p:nvSpPr>
          <p:cNvPr id="31" name="Text 29"/>
          <p:cNvSpPr/>
          <p:nvPr/>
        </p:nvSpPr>
        <p:spPr>
          <a:xfrm>
            <a:off x="4572000" y="4828032"/>
            <a:ext cx="4297680" cy="274320"/>
          </a:xfrm>
          <a:prstGeom prst="rect">
            <a:avLst/>
          </a:prstGeom>
          <a:noFill/>
          <a:ln/>
        </p:spPr>
        <p:txBody>
          <a:bodyPr wrap="square" lIns="0" tIns="0" rIns="0" bIns="0" rtlCol="0" anchor="ctr"/>
          <a:lstStyle/>
          <a:p>
            <a:pPr rtl="1" algn="r" indent="0" marL="0">
              <a:buNone/>
            </a:pPr>
            <a:r>
              <a:rPr lang="en-US" sz="800" dirty="0">
                <a:solidFill>
                  <a:srgbClr val="94A3B8"/>
                </a:solidFill>
                <a:latin typeface="Calibri" pitchFamily="34" charset="0"/>
                <a:ea typeface="Calibri" pitchFamily="34" charset="-122"/>
                <a:cs typeface="Calibri" pitchFamily="34" charset="-120"/>
              </a:rPr>
              <a:t>MAIA — סקירה למנהלים</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rtlCol="0" anchor="ctr"/>
          <a:lstStyle/>
          <a:p>
            <a:pPr rtl="1" algn="r" indent="0" marL="0">
              <a:buNone/>
            </a:pPr>
            <a:r>
              <a:rPr lang="en-US" sz="2800" b="1" dirty="0">
                <a:solidFill>
                  <a:srgbClr val="1C2B3A"/>
                </a:solidFill>
                <a:latin typeface="Calibri" pitchFamily="34" charset="0"/>
                <a:ea typeface="Calibri" pitchFamily="34" charset="-122"/>
                <a:cs typeface="Calibri" pitchFamily="34" charset="-120"/>
              </a:rPr>
              <a:t>מפת דרכים — הדור הנוכחי והבא</a:t>
            </a:r>
            <a:endParaRPr lang="en-US" sz="2800" dirty="0"/>
          </a:p>
        </p:txBody>
      </p:sp>
      <p:sp>
        <p:nvSpPr>
          <p:cNvPr id="3" name="Shape 1"/>
          <p:cNvSpPr/>
          <p:nvPr/>
        </p:nvSpPr>
        <p:spPr>
          <a:xfrm>
            <a:off x="4846320" y="960120"/>
            <a:ext cx="3840480" cy="3291840"/>
          </a:xfrm>
          <a:prstGeom prst="rect">
            <a:avLst/>
          </a:prstGeom>
          <a:solidFill>
            <a:srgbClr val="F1F5F9"/>
          </a:solidFill>
          <a:ln/>
          <a:effectLst>
            <a:outerShdw sx="100000" sy="100000" kx="0" ky="0" algn="bl" rotWithShape="0" blurRad="76200" dist="25400" dir="8100000">
              <a:srgbClr val="000000">
                <a:alpha val="10000"/>
              </a:srgbClr>
            </a:outerShdw>
          </a:effectLst>
        </p:spPr>
      </p:sp>
      <p:sp>
        <p:nvSpPr>
          <p:cNvPr id="4" name="Shape 2"/>
          <p:cNvSpPr/>
          <p:nvPr/>
        </p:nvSpPr>
        <p:spPr>
          <a:xfrm>
            <a:off x="4846320" y="960120"/>
            <a:ext cx="3840480" cy="384048"/>
          </a:xfrm>
          <a:prstGeom prst="rect">
            <a:avLst/>
          </a:prstGeom>
          <a:solidFill>
            <a:srgbClr val="2563EB"/>
          </a:solidFill>
          <a:ln/>
        </p:spPr>
      </p:sp>
      <p:sp>
        <p:nvSpPr>
          <p:cNvPr id="5" name="Text 3"/>
          <p:cNvSpPr/>
          <p:nvPr/>
        </p:nvSpPr>
        <p:spPr>
          <a:xfrm>
            <a:off x="4846320" y="960120"/>
            <a:ext cx="3840480" cy="384048"/>
          </a:xfrm>
          <a:prstGeom prst="rect">
            <a:avLst/>
          </a:prstGeom>
          <a:noFill/>
          <a:ln/>
        </p:spPr>
        <p:txBody>
          <a:bodyPr wrap="square" rtlCol="0" anchor="ctr"/>
          <a:lstStyle/>
          <a:p>
            <a:pPr rtl="1" algn="ctr" indent="0" marL="0">
              <a:buNone/>
            </a:pPr>
            <a:r>
              <a:rPr lang="en-US" sz="1200" b="1" dirty="0">
                <a:solidFill>
                  <a:srgbClr val="FFFFFF"/>
                </a:solidFill>
                <a:latin typeface="Calibri" pitchFamily="34" charset="0"/>
                <a:ea typeface="Calibri" pitchFamily="34" charset="-122"/>
                <a:cs typeface="Calibri" pitchFamily="34" charset="-120"/>
              </a:rPr>
              <a:t>היום — v2.2 (בנוי ופעיל)</a:t>
            </a:r>
            <a:endParaRPr lang="en-US" sz="1200" dirty="0"/>
          </a:p>
        </p:txBody>
      </p:sp>
      <p:sp>
        <p:nvSpPr>
          <p:cNvPr id="6" name="Text 4"/>
          <p:cNvSpPr/>
          <p:nvPr/>
        </p:nvSpPr>
        <p:spPr>
          <a:xfrm>
            <a:off x="5029200" y="1463040"/>
            <a:ext cx="3474720" cy="256032"/>
          </a:xfrm>
          <a:prstGeom prst="rect">
            <a:avLst/>
          </a:prstGeom>
          <a:noFill/>
          <a:ln/>
        </p:spPr>
        <p:txBody>
          <a:bodyPr wrap="square" rtlCol="0" anchor="ctr"/>
          <a:lstStyle/>
          <a:p>
            <a:pPr rtl="1" algn="r" indent="0" marL="0">
              <a:buNone/>
            </a:pPr>
            <a:r>
              <a:rPr lang="en-US" sz="950" dirty="0">
                <a:solidFill>
                  <a:srgbClr val="475569"/>
                </a:solidFill>
                <a:latin typeface="Calibri" pitchFamily="34" charset="0"/>
                <a:ea typeface="Calibri" pitchFamily="34" charset="-122"/>
                <a:cs typeface="Calibri" pitchFamily="34" charset="-120"/>
              </a:rPr>
              <a:t>✓  מנוע סיווג מבוסס כללים</a:t>
            </a:r>
            <a:endParaRPr lang="en-US" sz="950" dirty="0"/>
          </a:p>
        </p:txBody>
      </p:sp>
      <p:sp>
        <p:nvSpPr>
          <p:cNvPr id="7" name="Text 5"/>
          <p:cNvSpPr/>
          <p:nvPr/>
        </p:nvSpPr>
        <p:spPr>
          <a:xfrm>
            <a:off x="5029200" y="1737360"/>
            <a:ext cx="3474720" cy="256032"/>
          </a:xfrm>
          <a:prstGeom prst="rect">
            <a:avLst/>
          </a:prstGeom>
          <a:noFill/>
          <a:ln/>
        </p:spPr>
        <p:txBody>
          <a:bodyPr wrap="square" rtlCol="0" anchor="ctr"/>
          <a:lstStyle/>
          <a:p>
            <a:pPr rtl="1" algn="r" indent="0" marL="0">
              <a:buNone/>
            </a:pPr>
            <a:r>
              <a:rPr lang="en-US" sz="950" dirty="0">
                <a:solidFill>
                  <a:srgbClr val="475569"/>
                </a:solidFill>
                <a:latin typeface="Calibri" pitchFamily="34" charset="0"/>
                <a:ea typeface="Calibri" pitchFamily="34" charset="-122"/>
                <a:cs typeface="Calibri" pitchFamily="34" charset="-120"/>
              </a:rPr>
              <a:t>✓  4 אסטרטגיות סריקה (קובץ, DB, API, XML)</a:t>
            </a:r>
            <a:endParaRPr lang="en-US" sz="950" dirty="0"/>
          </a:p>
        </p:txBody>
      </p:sp>
      <p:sp>
        <p:nvSpPr>
          <p:cNvPr id="8" name="Text 6"/>
          <p:cNvSpPr/>
          <p:nvPr/>
        </p:nvSpPr>
        <p:spPr>
          <a:xfrm>
            <a:off x="5029200" y="2011680"/>
            <a:ext cx="3474720" cy="256032"/>
          </a:xfrm>
          <a:prstGeom prst="rect">
            <a:avLst/>
          </a:prstGeom>
          <a:noFill/>
          <a:ln/>
        </p:spPr>
        <p:txBody>
          <a:bodyPr wrap="square" rtlCol="0" anchor="ctr"/>
          <a:lstStyle/>
          <a:p>
            <a:pPr rtl="1" algn="r" indent="0" marL="0">
              <a:buNone/>
            </a:pPr>
            <a:r>
              <a:rPr lang="en-US" sz="950" dirty="0">
                <a:solidFill>
                  <a:srgbClr val="475569"/>
                </a:solidFill>
                <a:latin typeface="Calibri" pitchFamily="34" charset="0"/>
                <a:ea typeface="Calibri" pitchFamily="34" charset="-122"/>
                <a:cs typeface="Calibri" pitchFamily="34" charset="-120"/>
              </a:rPr>
              <a:t>✓  5 סוגי מבצעי תיקון + מדיניות מורכבת</a:t>
            </a:r>
            <a:endParaRPr lang="en-US" sz="950" dirty="0"/>
          </a:p>
        </p:txBody>
      </p:sp>
      <p:sp>
        <p:nvSpPr>
          <p:cNvPr id="9" name="Text 7"/>
          <p:cNvSpPr/>
          <p:nvPr/>
        </p:nvSpPr>
        <p:spPr>
          <a:xfrm>
            <a:off x="5029200" y="2286000"/>
            <a:ext cx="3474720" cy="256032"/>
          </a:xfrm>
          <a:prstGeom prst="rect">
            <a:avLst/>
          </a:prstGeom>
          <a:noFill/>
          <a:ln/>
        </p:spPr>
        <p:txBody>
          <a:bodyPr wrap="square" rtlCol="0" anchor="ctr"/>
          <a:lstStyle/>
          <a:p>
            <a:pPr rtl="1" algn="r" indent="0" marL="0">
              <a:buNone/>
            </a:pPr>
            <a:r>
              <a:rPr lang="en-US" sz="950" dirty="0">
                <a:solidFill>
                  <a:srgbClr val="475569"/>
                </a:solidFill>
                <a:latin typeface="Calibri" pitchFamily="34" charset="0"/>
                <a:ea typeface="Calibri" pitchFamily="34" charset="-122"/>
                <a:cs typeface="Calibri" pitchFamily="34" charset="-120"/>
              </a:rPr>
              <a:t>✓  תיקון עצמי עם נעילה אטומית</a:t>
            </a:r>
            <a:endParaRPr lang="en-US" sz="950" dirty="0"/>
          </a:p>
        </p:txBody>
      </p:sp>
      <p:sp>
        <p:nvSpPr>
          <p:cNvPr id="10" name="Text 8"/>
          <p:cNvSpPr/>
          <p:nvPr/>
        </p:nvSpPr>
        <p:spPr>
          <a:xfrm>
            <a:off x="5029200" y="2560320"/>
            <a:ext cx="3474720" cy="256032"/>
          </a:xfrm>
          <a:prstGeom prst="rect">
            <a:avLst/>
          </a:prstGeom>
          <a:noFill/>
          <a:ln/>
        </p:spPr>
        <p:txBody>
          <a:bodyPr wrap="square" rtlCol="0" anchor="ctr"/>
          <a:lstStyle/>
          <a:p>
            <a:pPr rtl="1" algn="r" indent="0" marL="0">
              <a:buNone/>
            </a:pPr>
            <a:r>
              <a:rPr lang="en-US" sz="950" dirty="0">
                <a:solidFill>
                  <a:srgbClr val="475569"/>
                </a:solidFill>
                <a:latin typeface="Calibri" pitchFamily="34" charset="0"/>
                <a:ea typeface="Calibri" pitchFamily="34" charset="-122"/>
                <a:cs typeface="Calibri" pitchFamily="34" charset="-120"/>
              </a:rPr>
              <a:t>✓  דשבורד: KPI, גרפים, מגירה, מצב כהה</a:t>
            </a:r>
            <a:endParaRPr lang="en-US" sz="950" dirty="0"/>
          </a:p>
        </p:txBody>
      </p:sp>
      <p:sp>
        <p:nvSpPr>
          <p:cNvPr id="11" name="Text 9"/>
          <p:cNvSpPr/>
          <p:nvPr/>
        </p:nvSpPr>
        <p:spPr>
          <a:xfrm>
            <a:off x="5029200" y="2834640"/>
            <a:ext cx="3474720" cy="256032"/>
          </a:xfrm>
          <a:prstGeom prst="rect">
            <a:avLst/>
          </a:prstGeom>
          <a:noFill/>
          <a:ln/>
        </p:spPr>
        <p:txBody>
          <a:bodyPr wrap="square" rtlCol="0" anchor="ctr"/>
          <a:lstStyle/>
          <a:p>
            <a:pPr rtl="1" algn="r" indent="0" marL="0">
              <a:buNone/>
            </a:pPr>
            <a:r>
              <a:rPr lang="en-US" sz="950" dirty="0">
                <a:solidFill>
                  <a:srgbClr val="475569"/>
                </a:solidFill>
                <a:latin typeface="Calibri" pitchFamily="34" charset="0"/>
                <a:ea typeface="Calibri" pitchFamily="34" charset="-122"/>
                <a:cs typeface="Calibri" pitchFamily="34" charset="-120"/>
              </a:rPr>
              <a:t>✓  אימות v1: PBKDF2, 3 תפקידים, החלפת סיסמה</a:t>
            </a:r>
            <a:endParaRPr lang="en-US" sz="950" dirty="0"/>
          </a:p>
        </p:txBody>
      </p:sp>
      <p:sp>
        <p:nvSpPr>
          <p:cNvPr id="12" name="Text 10"/>
          <p:cNvSpPr/>
          <p:nvPr/>
        </p:nvSpPr>
        <p:spPr>
          <a:xfrm>
            <a:off x="5029200" y="3108960"/>
            <a:ext cx="3474720" cy="256032"/>
          </a:xfrm>
          <a:prstGeom prst="rect">
            <a:avLst/>
          </a:prstGeom>
          <a:noFill/>
          <a:ln/>
        </p:spPr>
        <p:txBody>
          <a:bodyPr wrap="square" rtlCol="0" anchor="ctr"/>
          <a:lstStyle/>
          <a:p>
            <a:pPr rtl="1" algn="r" indent="0" marL="0">
              <a:buNone/>
            </a:pPr>
            <a:r>
              <a:rPr lang="en-US" sz="950" dirty="0">
                <a:solidFill>
                  <a:srgbClr val="475569"/>
                </a:solidFill>
                <a:latin typeface="Calibri" pitchFamily="34" charset="0"/>
                <a:ea typeface="Calibri" pitchFamily="34" charset="-122"/>
                <a:cs typeface="Calibri" pitchFamily="34" charset="-120"/>
              </a:rPr>
              <a:t>✓  יומן ביקורת בלתי ניתן לשינוי</a:t>
            </a:r>
            <a:endParaRPr lang="en-US" sz="950" dirty="0"/>
          </a:p>
        </p:txBody>
      </p:sp>
      <p:sp>
        <p:nvSpPr>
          <p:cNvPr id="13" name="Text 11"/>
          <p:cNvSpPr/>
          <p:nvPr/>
        </p:nvSpPr>
        <p:spPr>
          <a:xfrm>
            <a:off x="5029200" y="3383280"/>
            <a:ext cx="3474720" cy="256032"/>
          </a:xfrm>
          <a:prstGeom prst="rect">
            <a:avLst/>
          </a:prstGeom>
          <a:noFill/>
          <a:ln/>
        </p:spPr>
        <p:txBody>
          <a:bodyPr wrap="square" rtlCol="0" anchor="ctr"/>
          <a:lstStyle/>
          <a:p>
            <a:pPr rtl="1" algn="r" indent="0" marL="0">
              <a:buNone/>
            </a:pPr>
            <a:r>
              <a:rPr lang="en-US" sz="950" dirty="0">
                <a:solidFill>
                  <a:srgbClr val="475569"/>
                </a:solidFill>
                <a:latin typeface="Calibri" pitchFamily="34" charset="0"/>
                <a:ea typeface="Calibri" pitchFamily="34" charset="-122"/>
                <a:cs typeface="Calibri" pitchFamily="34" charset="-120"/>
              </a:rPr>
              <a:t>✓  עובד מרובה מופעים (ליסינג)</a:t>
            </a:r>
            <a:endParaRPr lang="en-US" sz="950" dirty="0"/>
          </a:p>
        </p:txBody>
      </p:sp>
      <p:sp>
        <p:nvSpPr>
          <p:cNvPr id="14" name="Text 12"/>
          <p:cNvSpPr/>
          <p:nvPr/>
        </p:nvSpPr>
        <p:spPr>
          <a:xfrm>
            <a:off x="5029200" y="3657600"/>
            <a:ext cx="3474720" cy="256032"/>
          </a:xfrm>
          <a:prstGeom prst="rect">
            <a:avLst/>
          </a:prstGeom>
          <a:noFill/>
          <a:ln/>
        </p:spPr>
        <p:txBody>
          <a:bodyPr wrap="square" rtlCol="0" anchor="ctr"/>
          <a:lstStyle/>
          <a:p>
            <a:pPr rtl="1" algn="r" indent="0" marL="0">
              <a:buNone/>
            </a:pPr>
            <a:r>
              <a:rPr lang="en-US" sz="950" dirty="0">
                <a:solidFill>
                  <a:srgbClr val="475569"/>
                </a:solidFill>
                <a:latin typeface="Calibri" pitchFamily="34" charset="0"/>
                <a:ea typeface="Calibri" pitchFamily="34" charset="-122"/>
                <a:cs typeface="Calibri" pitchFamily="34" charset="-120"/>
              </a:rPr>
              <a:t>✓  מודל ScanSource + מסך הגדרות</a:t>
            </a:r>
            <a:endParaRPr lang="en-US" sz="950" dirty="0"/>
          </a:p>
        </p:txBody>
      </p:sp>
      <p:sp>
        <p:nvSpPr>
          <p:cNvPr id="15" name="Text 13"/>
          <p:cNvSpPr/>
          <p:nvPr/>
        </p:nvSpPr>
        <p:spPr>
          <a:xfrm>
            <a:off x="5029200" y="3931920"/>
            <a:ext cx="3474720" cy="256032"/>
          </a:xfrm>
          <a:prstGeom prst="rect">
            <a:avLst/>
          </a:prstGeom>
          <a:noFill/>
          <a:ln/>
        </p:spPr>
        <p:txBody>
          <a:bodyPr wrap="square" rtlCol="0" anchor="ctr"/>
          <a:lstStyle/>
          <a:p>
            <a:pPr rtl="1" algn="r" indent="0" marL="0">
              <a:buNone/>
            </a:pPr>
            <a:r>
              <a:rPr lang="en-US" sz="950" dirty="0">
                <a:solidFill>
                  <a:srgbClr val="475569"/>
                </a:solidFill>
                <a:latin typeface="Calibri" pitchFamily="34" charset="0"/>
                <a:ea typeface="Calibri" pitchFamily="34" charset="-122"/>
                <a:cs typeface="Calibri" pitchFamily="34" charset="-120"/>
              </a:rPr>
              <a:t>✓  Job Flow, פלטת פקודות, מיון שרת</a:t>
            </a:r>
            <a:endParaRPr lang="en-US" sz="950" dirty="0"/>
          </a:p>
        </p:txBody>
      </p:sp>
      <p:sp>
        <p:nvSpPr>
          <p:cNvPr id="16" name="Shape 14"/>
          <p:cNvSpPr/>
          <p:nvPr/>
        </p:nvSpPr>
        <p:spPr>
          <a:xfrm>
            <a:off x="457200" y="960120"/>
            <a:ext cx="3840480" cy="3291840"/>
          </a:xfrm>
          <a:prstGeom prst="rect">
            <a:avLst/>
          </a:prstGeom>
          <a:solidFill>
            <a:srgbClr val="F1F5F9"/>
          </a:solidFill>
          <a:ln/>
          <a:effectLst>
            <a:outerShdw sx="100000" sy="100000" kx="0" ky="0" algn="bl" rotWithShape="0" blurRad="76200" dist="25400" dir="8100000">
              <a:srgbClr val="000000">
                <a:alpha val="10000"/>
              </a:srgbClr>
            </a:outerShdw>
          </a:effectLst>
        </p:spPr>
      </p:sp>
      <p:sp>
        <p:nvSpPr>
          <p:cNvPr id="17" name="Shape 15"/>
          <p:cNvSpPr/>
          <p:nvPr/>
        </p:nvSpPr>
        <p:spPr>
          <a:xfrm>
            <a:off x="457200" y="960120"/>
            <a:ext cx="3840480" cy="384048"/>
          </a:xfrm>
          <a:prstGeom prst="rect">
            <a:avLst/>
          </a:prstGeom>
          <a:solidFill>
            <a:srgbClr val="D97706"/>
          </a:solidFill>
          <a:ln/>
        </p:spPr>
      </p:sp>
      <p:sp>
        <p:nvSpPr>
          <p:cNvPr id="18" name="Text 16"/>
          <p:cNvSpPr/>
          <p:nvPr/>
        </p:nvSpPr>
        <p:spPr>
          <a:xfrm>
            <a:off x="457200" y="960120"/>
            <a:ext cx="3840480" cy="384048"/>
          </a:xfrm>
          <a:prstGeom prst="rect">
            <a:avLst/>
          </a:prstGeom>
          <a:noFill/>
          <a:ln/>
        </p:spPr>
        <p:txBody>
          <a:bodyPr wrap="square" rtlCol="0" anchor="ctr"/>
          <a:lstStyle/>
          <a:p>
            <a:pPr rtl="1" algn="ctr" indent="0" marL="0">
              <a:buNone/>
            </a:pPr>
            <a:r>
              <a:rPr lang="en-US" sz="1200" b="1" dirty="0">
                <a:solidFill>
                  <a:srgbClr val="FFFFFF"/>
                </a:solidFill>
                <a:latin typeface="Calibri" pitchFamily="34" charset="0"/>
                <a:ea typeface="Calibri" pitchFamily="34" charset="-122"/>
                <a:cs typeface="Calibri" pitchFamily="34" charset="-120"/>
              </a:rPr>
              <a:t>הדור הבא — מתוכנן</a:t>
            </a:r>
            <a:endParaRPr lang="en-US" sz="1200" dirty="0"/>
          </a:p>
        </p:txBody>
      </p:sp>
      <p:sp>
        <p:nvSpPr>
          <p:cNvPr id="19" name="Text 17"/>
          <p:cNvSpPr/>
          <p:nvPr/>
        </p:nvSpPr>
        <p:spPr>
          <a:xfrm>
            <a:off x="640080" y="1508760"/>
            <a:ext cx="3474720" cy="201168"/>
          </a:xfrm>
          <a:prstGeom prst="rect">
            <a:avLst/>
          </a:prstGeom>
          <a:noFill/>
          <a:ln/>
        </p:spPr>
        <p:txBody>
          <a:bodyPr wrap="square" rtlCol="0" anchor="ctr"/>
          <a:lstStyle/>
          <a:p>
            <a:pPr rtl="1" algn="r" indent="0" marL="0">
              <a:buNone/>
            </a:pPr>
            <a:r>
              <a:rPr lang="en-US" sz="1100" b="1" dirty="0">
                <a:solidFill>
                  <a:srgbClr val="1C2B3A"/>
                </a:solidFill>
                <a:latin typeface="Calibri" pitchFamily="34" charset="0"/>
                <a:ea typeface="Calibri" pitchFamily="34" charset="-122"/>
                <a:cs typeface="Calibri" pitchFamily="34" charset="-120"/>
              </a:rPr>
              <a:t>סיווג בעזרת LLM</a:t>
            </a:r>
            <a:endParaRPr lang="en-US" sz="1100" dirty="0"/>
          </a:p>
        </p:txBody>
      </p:sp>
      <p:sp>
        <p:nvSpPr>
          <p:cNvPr id="20" name="Text 18"/>
          <p:cNvSpPr/>
          <p:nvPr/>
        </p:nvSpPr>
        <p:spPr>
          <a:xfrm>
            <a:off x="640080" y="1709928"/>
            <a:ext cx="3474720" cy="228600"/>
          </a:xfrm>
          <a:prstGeom prst="rect">
            <a:avLst/>
          </a:prstGeom>
          <a:noFill/>
          <a:ln/>
        </p:spPr>
        <p:txBody>
          <a:bodyPr wrap="square" rtlCol="0" anchor="ctr"/>
          <a:lstStyle/>
          <a:p>
            <a:pPr rtl="1" algn="r" indent="0" marL="0">
              <a:buNone/>
            </a:pPr>
            <a:r>
              <a:rPr lang="en-US" sz="950" dirty="0">
                <a:solidFill>
                  <a:srgbClr val="475569"/>
                </a:solidFill>
                <a:latin typeface="Calibri" pitchFamily="34" charset="0"/>
                <a:ea typeface="Calibri" pitchFamily="34" charset="-122"/>
                <a:cs typeface="Calibri" pitchFamily="34" charset="-120"/>
              </a:rPr>
              <a:t>סיווג שגיאות חדשות שלא תואמות כללים</a:t>
            </a:r>
            <a:endParaRPr lang="en-US" sz="950" dirty="0"/>
          </a:p>
        </p:txBody>
      </p:sp>
      <p:sp>
        <p:nvSpPr>
          <p:cNvPr id="21" name="Text 19"/>
          <p:cNvSpPr/>
          <p:nvPr/>
        </p:nvSpPr>
        <p:spPr>
          <a:xfrm>
            <a:off x="640080" y="2075688"/>
            <a:ext cx="3474720" cy="201168"/>
          </a:xfrm>
          <a:prstGeom prst="rect">
            <a:avLst/>
          </a:prstGeom>
          <a:noFill/>
          <a:ln/>
        </p:spPr>
        <p:txBody>
          <a:bodyPr wrap="square" rtlCol="0" anchor="ctr"/>
          <a:lstStyle/>
          <a:p>
            <a:pPr rtl="1" algn="r" indent="0" marL="0">
              <a:buNone/>
            </a:pPr>
            <a:r>
              <a:rPr lang="en-US" sz="1100" b="1" dirty="0">
                <a:solidFill>
                  <a:srgbClr val="1C2B3A"/>
                </a:solidFill>
                <a:latin typeface="Calibri" pitchFamily="34" charset="0"/>
                <a:ea typeface="Calibri" pitchFamily="34" charset="-122"/>
                <a:cs typeface="Calibri" pitchFamily="34" charset="-120"/>
              </a:rPr>
              <a:t>הצעות תיקון דינמיות</a:t>
            </a:r>
            <a:endParaRPr lang="en-US" sz="1100" dirty="0"/>
          </a:p>
        </p:txBody>
      </p:sp>
      <p:sp>
        <p:nvSpPr>
          <p:cNvPr id="22" name="Text 20"/>
          <p:cNvSpPr/>
          <p:nvPr/>
        </p:nvSpPr>
        <p:spPr>
          <a:xfrm>
            <a:off x="640080" y="2276856"/>
            <a:ext cx="3474720" cy="228600"/>
          </a:xfrm>
          <a:prstGeom prst="rect">
            <a:avLst/>
          </a:prstGeom>
          <a:noFill/>
          <a:ln/>
        </p:spPr>
        <p:txBody>
          <a:bodyPr wrap="square" rtlCol="0" anchor="ctr"/>
          <a:lstStyle/>
          <a:p>
            <a:pPr rtl="1" algn="r" indent="0" marL="0">
              <a:buNone/>
            </a:pPr>
            <a:r>
              <a:rPr lang="en-US" sz="950" dirty="0">
                <a:solidFill>
                  <a:srgbClr val="475569"/>
                </a:solidFill>
                <a:latin typeface="Calibri" pitchFamily="34" charset="0"/>
                <a:ea typeface="Calibri" pitchFamily="34" charset="-122"/>
                <a:cs typeface="Calibri" pitchFamily="34" charset="-120"/>
              </a:rPr>
              <a:t>מודל שפה מייצר מועמדים לתיקון</a:t>
            </a:r>
            <a:endParaRPr lang="en-US" sz="950" dirty="0"/>
          </a:p>
        </p:txBody>
      </p:sp>
      <p:sp>
        <p:nvSpPr>
          <p:cNvPr id="23" name="Text 21"/>
          <p:cNvSpPr/>
          <p:nvPr/>
        </p:nvSpPr>
        <p:spPr>
          <a:xfrm>
            <a:off x="640080" y="2642616"/>
            <a:ext cx="3474720" cy="201168"/>
          </a:xfrm>
          <a:prstGeom prst="rect">
            <a:avLst/>
          </a:prstGeom>
          <a:noFill/>
          <a:ln/>
        </p:spPr>
        <p:txBody>
          <a:bodyPr wrap="square" rtlCol="0" anchor="ctr"/>
          <a:lstStyle/>
          <a:p>
            <a:pPr rtl="1" algn="r" indent="0" marL="0">
              <a:buNone/>
            </a:pPr>
            <a:r>
              <a:rPr lang="en-US" sz="1100" b="1" dirty="0">
                <a:solidFill>
                  <a:srgbClr val="1C2B3A"/>
                </a:solidFill>
                <a:latin typeface="Calibri" pitchFamily="34" charset="0"/>
                <a:ea typeface="Calibri" pitchFamily="34" charset="-122"/>
                <a:cs typeface="Calibri" pitchFamily="34" charset="-120"/>
              </a:rPr>
              <a:t>זיהוי אנומליות ML</a:t>
            </a:r>
            <a:endParaRPr lang="en-US" sz="1100" dirty="0"/>
          </a:p>
        </p:txBody>
      </p:sp>
      <p:sp>
        <p:nvSpPr>
          <p:cNvPr id="24" name="Text 22"/>
          <p:cNvSpPr/>
          <p:nvPr/>
        </p:nvSpPr>
        <p:spPr>
          <a:xfrm>
            <a:off x="640080" y="2843784"/>
            <a:ext cx="3474720" cy="228600"/>
          </a:xfrm>
          <a:prstGeom prst="rect">
            <a:avLst/>
          </a:prstGeom>
          <a:noFill/>
          <a:ln/>
        </p:spPr>
        <p:txBody>
          <a:bodyPr wrap="square" rtlCol="0" anchor="ctr"/>
          <a:lstStyle/>
          <a:p>
            <a:pPr rtl="1" algn="r" indent="0" marL="0">
              <a:buNone/>
            </a:pPr>
            <a:r>
              <a:rPr lang="en-US" sz="950" dirty="0">
                <a:solidFill>
                  <a:srgbClr val="475569"/>
                </a:solidFill>
                <a:latin typeface="Calibri" pitchFamily="34" charset="0"/>
                <a:ea typeface="Calibri" pitchFamily="34" charset="-122"/>
                <a:cs typeface="Calibri" pitchFamily="34" charset="-120"/>
              </a:rPr>
              <a:t>זיהוי דפוסים מעבר לכללי סף</a:t>
            </a:r>
            <a:endParaRPr lang="en-US" sz="950" dirty="0"/>
          </a:p>
        </p:txBody>
      </p:sp>
      <p:sp>
        <p:nvSpPr>
          <p:cNvPr id="25" name="Text 23"/>
          <p:cNvSpPr/>
          <p:nvPr/>
        </p:nvSpPr>
        <p:spPr>
          <a:xfrm>
            <a:off x="640080" y="3209544"/>
            <a:ext cx="3474720" cy="201168"/>
          </a:xfrm>
          <a:prstGeom prst="rect">
            <a:avLst/>
          </a:prstGeom>
          <a:noFill/>
          <a:ln/>
        </p:spPr>
        <p:txBody>
          <a:bodyPr wrap="square" rtlCol="0" anchor="ctr"/>
          <a:lstStyle/>
          <a:p>
            <a:pPr rtl="1" algn="r" indent="0" marL="0">
              <a:buNone/>
            </a:pPr>
            <a:r>
              <a:rPr lang="en-US" sz="1100" b="1" dirty="0">
                <a:solidFill>
                  <a:srgbClr val="1C2B3A"/>
                </a:solidFill>
                <a:latin typeface="Calibri" pitchFamily="34" charset="0"/>
                <a:ea typeface="Calibri" pitchFamily="34" charset="-122"/>
                <a:cs typeface="Calibri" pitchFamily="34" charset="-120"/>
              </a:rPr>
              <a:t>SSO עם Active Directory</a:t>
            </a:r>
            <a:endParaRPr lang="en-US" sz="1100" dirty="0"/>
          </a:p>
        </p:txBody>
      </p:sp>
      <p:sp>
        <p:nvSpPr>
          <p:cNvPr id="26" name="Text 24"/>
          <p:cNvSpPr/>
          <p:nvPr/>
        </p:nvSpPr>
        <p:spPr>
          <a:xfrm>
            <a:off x="640080" y="3410712"/>
            <a:ext cx="3474720" cy="228600"/>
          </a:xfrm>
          <a:prstGeom prst="rect">
            <a:avLst/>
          </a:prstGeom>
          <a:noFill/>
          <a:ln/>
        </p:spPr>
        <p:txBody>
          <a:bodyPr wrap="square" rtlCol="0" anchor="ctr"/>
          <a:lstStyle/>
          <a:p>
            <a:pPr rtl="1" algn="r" indent="0" marL="0">
              <a:buNone/>
            </a:pPr>
            <a:r>
              <a:rPr lang="en-US" sz="950" dirty="0">
                <a:solidFill>
                  <a:srgbClr val="475569"/>
                </a:solidFill>
                <a:latin typeface="Calibri" pitchFamily="34" charset="0"/>
                <a:ea typeface="Calibri" pitchFamily="34" charset="-122"/>
                <a:cs typeface="Calibri" pitchFamily="34" charset="-120"/>
              </a:rPr>
              <a:t>אימות ארגוני לצד אימות מקומי</a:t>
            </a:r>
            <a:endParaRPr lang="en-US" sz="950" dirty="0"/>
          </a:p>
        </p:txBody>
      </p:sp>
      <p:sp>
        <p:nvSpPr>
          <p:cNvPr id="27" name="Text 25"/>
          <p:cNvSpPr/>
          <p:nvPr/>
        </p:nvSpPr>
        <p:spPr>
          <a:xfrm>
            <a:off x="640080" y="3776472"/>
            <a:ext cx="3474720" cy="201168"/>
          </a:xfrm>
          <a:prstGeom prst="rect">
            <a:avLst/>
          </a:prstGeom>
          <a:noFill/>
          <a:ln/>
        </p:spPr>
        <p:txBody>
          <a:bodyPr wrap="square" rtlCol="0" anchor="ctr"/>
          <a:lstStyle/>
          <a:p>
            <a:pPr rtl="1" algn="r" indent="0" marL="0">
              <a:buNone/>
            </a:pPr>
            <a:r>
              <a:rPr lang="en-US" sz="1100" b="1" dirty="0">
                <a:solidFill>
                  <a:srgbClr val="1C2B3A"/>
                </a:solidFill>
                <a:latin typeface="Calibri" pitchFamily="34" charset="0"/>
                <a:ea typeface="Calibri" pitchFamily="34" charset="-122"/>
                <a:cs typeface="Calibri" pitchFamily="34" charset="-120"/>
              </a:rPr>
              <a:t>תמיכה מלאה בעברית RTL</a:t>
            </a:r>
            <a:endParaRPr lang="en-US" sz="1100" dirty="0"/>
          </a:p>
        </p:txBody>
      </p:sp>
      <p:sp>
        <p:nvSpPr>
          <p:cNvPr id="28" name="Text 26"/>
          <p:cNvSpPr/>
          <p:nvPr/>
        </p:nvSpPr>
        <p:spPr>
          <a:xfrm>
            <a:off x="640080" y="3977640"/>
            <a:ext cx="3474720" cy="228600"/>
          </a:xfrm>
          <a:prstGeom prst="rect">
            <a:avLst/>
          </a:prstGeom>
          <a:noFill/>
          <a:ln/>
        </p:spPr>
        <p:txBody>
          <a:bodyPr wrap="square" rtlCol="0" anchor="ctr"/>
          <a:lstStyle/>
          <a:p>
            <a:pPr rtl="1" algn="r" indent="0" marL="0">
              <a:buNone/>
            </a:pPr>
            <a:r>
              <a:rPr lang="en-US" sz="950" dirty="0">
                <a:solidFill>
                  <a:srgbClr val="475569"/>
                </a:solidFill>
                <a:latin typeface="Calibri" pitchFamily="34" charset="0"/>
                <a:ea typeface="Calibri" pitchFamily="34" charset="-122"/>
                <a:cs typeface="Calibri" pitchFamily="34" charset="-120"/>
              </a:rPr>
              <a:t>תרגומים ושיקוף פריסה</a:t>
            </a:r>
            <a:endParaRPr lang="en-US" sz="950" dirty="0"/>
          </a:p>
        </p:txBody>
      </p:sp>
      <p:sp>
        <p:nvSpPr>
          <p:cNvPr id="29" name="Shape 27"/>
          <p:cNvSpPr/>
          <p:nvPr/>
        </p:nvSpPr>
        <p:spPr>
          <a:xfrm>
            <a:off x="4297680" y="2606040"/>
            <a:ext cx="548640" cy="0"/>
          </a:xfrm>
          <a:prstGeom prst="line">
            <a:avLst/>
          </a:prstGeom>
          <a:noFill/>
          <a:ln w="31750">
            <a:solidFill>
              <a:srgbClr val="2563EB"/>
            </a:solidFill>
            <a:prstDash val="solid"/>
          </a:ln>
        </p:spPr>
      </p:sp>
      <p:sp>
        <p:nvSpPr>
          <p:cNvPr id="30" name="Text 28"/>
          <p:cNvSpPr/>
          <p:nvPr/>
        </p:nvSpPr>
        <p:spPr>
          <a:xfrm>
            <a:off x="457200" y="4389120"/>
            <a:ext cx="8229600" cy="320040"/>
          </a:xfrm>
          <a:prstGeom prst="rect">
            <a:avLst/>
          </a:prstGeom>
          <a:noFill/>
          <a:ln/>
        </p:spPr>
        <p:txBody>
          <a:bodyPr wrap="square" rtlCol="0" anchor="ctr"/>
          <a:lstStyle/>
          <a:p>
            <a:pPr rtl="1" algn="ctr" indent="0" marL="0">
              <a:buNone/>
            </a:pPr>
            <a:r>
              <a:rPr lang="en-US" sz="900" i="1" dirty="0">
                <a:solidFill>
                  <a:srgbClr val="94A3B8"/>
                </a:solidFill>
                <a:latin typeface="Calibri" pitchFamily="34" charset="0"/>
                <a:ea typeface="Calibri" pitchFamily="34" charset="-122"/>
                <a:cs typeface="Calibri" pitchFamily="34" charset="-120"/>
              </a:rPr>
              <a:t>הארכיטקטורה מעוצבת להרחבת LLM/ML — נקודות הזרקה טבעיות מוכנות</a:t>
            </a:r>
            <a:endParaRPr lang="en-US" sz="900" dirty="0"/>
          </a:p>
        </p:txBody>
      </p:sp>
      <p:sp>
        <p:nvSpPr>
          <p:cNvPr id="31" name="Shape 29"/>
          <p:cNvSpPr/>
          <p:nvPr/>
        </p:nvSpPr>
        <p:spPr>
          <a:xfrm>
            <a:off x="0" y="4800600"/>
            <a:ext cx="9144000" cy="342900"/>
          </a:xfrm>
          <a:prstGeom prst="rect">
            <a:avLst/>
          </a:prstGeom>
          <a:solidFill>
            <a:srgbClr val="1C2B3A"/>
          </a:solidFill>
          <a:ln/>
        </p:spPr>
      </p:sp>
      <p:sp>
        <p:nvSpPr>
          <p:cNvPr id="32" name="Text 30"/>
          <p:cNvSpPr/>
          <p:nvPr/>
        </p:nvSpPr>
        <p:spPr>
          <a:xfrm>
            <a:off x="4572000" y="4828032"/>
            <a:ext cx="4297680" cy="274320"/>
          </a:xfrm>
          <a:prstGeom prst="rect">
            <a:avLst/>
          </a:prstGeom>
          <a:noFill/>
          <a:ln/>
        </p:spPr>
        <p:txBody>
          <a:bodyPr wrap="square" lIns="0" tIns="0" rIns="0" bIns="0" rtlCol="0" anchor="ctr"/>
          <a:lstStyle/>
          <a:p>
            <a:pPr rtl="1" algn="r" indent="0" marL="0">
              <a:buNone/>
            </a:pPr>
            <a:r>
              <a:rPr lang="en-US" sz="800" dirty="0">
                <a:solidFill>
                  <a:srgbClr val="94A3B8"/>
                </a:solidFill>
                <a:latin typeface="Calibri" pitchFamily="34" charset="0"/>
                <a:ea typeface="Calibri" pitchFamily="34" charset="-122"/>
                <a:cs typeface="Calibri" pitchFamily="34" charset="-120"/>
              </a:rPr>
              <a:t>MAIA — סקירה למנהלים</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C2B3A"/>
        </a:solidFill>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rtl="1" algn="r" indent="0" marL="0">
              <a:buNone/>
            </a:pPr>
            <a:r>
              <a:rPr lang="en-US" sz="2800" b="1" dirty="0">
                <a:solidFill>
                  <a:srgbClr val="FFFFFF"/>
                </a:solidFill>
                <a:latin typeface="Calibri" pitchFamily="34" charset="0"/>
                <a:ea typeface="Calibri" pitchFamily="34" charset="-122"/>
                <a:cs typeface="Calibri" pitchFamily="34" charset="-120"/>
              </a:rPr>
              <a:t>סיכום</a:t>
            </a:r>
            <a:endParaRPr lang="en-US" sz="2800" dirty="0"/>
          </a:p>
        </p:txBody>
      </p:sp>
      <p:sp>
        <p:nvSpPr>
          <p:cNvPr id="3" name="Text 1"/>
          <p:cNvSpPr/>
          <p:nvPr/>
        </p:nvSpPr>
        <p:spPr>
          <a:xfrm>
            <a:off x="457200" y="1051560"/>
            <a:ext cx="8229600" cy="384048"/>
          </a:xfrm>
          <a:prstGeom prst="rect">
            <a:avLst/>
          </a:prstGeom>
          <a:noFill/>
          <a:ln/>
        </p:spPr>
        <p:txBody>
          <a:bodyPr wrap="square" rtlCol="0" anchor="ctr"/>
          <a:lstStyle/>
          <a:p>
            <a:pPr rtl="1" algn="r" indent="0" marL="0">
              <a:buNone/>
            </a:pPr>
            <a:r>
              <a:rPr lang="en-US" sz="1300" dirty="0">
                <a:solidFill>
                  <a:srgbClr val="FFFFFF"/>
                </a:solidFill>
                <a:latin typeface="Calibri" pitchFamily="34" charset="0"/>
                <a:ea typeface="Calibri" pitchFamily="34" charset="-122"/>
                <a:cs typeface="Calibri" pitchFamily="34" charset="-120"/>
              </a:rPr>
              <a:t>←  MAIA פעילה היום — כל היכולות בנויות, נבדקות (275+ טסטים) ומותקנות</a:t>
            </a:r>
            <a:endParaRPr lang="en-US" sz="1300" dirty="0"/>
          </a:p>
        </p:txBody>
      </p:sp>
      <p:sp>
        <p:nvSpPr>
          <p:cNvPr id="4" name="Text 2"/>
          <p:cNvSpPr/>
          <p:nvPr/>
        </p:nvSpPr>
        <p:spPr>
          <a:xfrm>
            <a:off x="457200" y="1490472"/>
            <a:ext cx="8229600" cy="384048"/>
          </a:xfrm>
          <a:prstGeom prst="rect">
            <a:avLst/>
          </a:prstGeom>
          <a:noFill/>
          <a:ln/>
        </p:spPr>
        <p:txBody>
          <a:bodyPr wrap="square" rtlCol="0" anchor="ctr"/>
          <a:lstStyle/>
          <a:p>
            <a:pPr rtl="1" algn="r" indent="0" marL="0">
              <a:buNone/>
            </a:pPr>
            <a:r>
              <a:rPr lang="en-US" sz="1300" dirty="0">
                <a:solidFill>
                  <a:srgbClr val="FFFFFF"/>
                </a:solidFill>
                <a:latin typeface="Calibri" pitchFamily="34" charset="0"/>
                <a:ea typeface="Calibri" pitchFamily="34" charset="-122"/>
                <a:cs typeface="Calibri" pitchFamily="34" charset="-120"/>
              </a:rPr>
              <a:t>←  אוטומציה מבוססת כללים: צפויה, ניתנת לביקורת, עובדת אופליין מלא</a:t>
            </a:r>
            <a:endParaRPr lang="en-US" sz="1300" dirty="0"/>
          </a:p>
        </p:txBody>
      </p:sp>
      <p:sp>
        <p:nvSpPr>
          <p:cNvPr id="5" name="Text 3"/>
          <p:cNvSpPr/>
          <p:nvPr/>
        </p:nvSpPr>
        <p:spPr>
          <a:xfrm>
            <a:off x="457200" y="1929384"/>
            <a:ext cx="8229600" cy="384048"/>
          </a:xfrm>
          <a:prstGeom prst="rect">
            <a:avLst/>
          </a:prstGeom>
          <a:noFill/>
          <a:ln/>
        </p:spPr>
        <p:txBody>
          <a:bodyPr wrap="square" rtlCol="0" anchor="ctr"/>
          <a:lstStyle/>
          <a:p>
            <a:pPr rtl="1" algn="r" indent="0" marL="0">
              <a:buNone/>
            </a:pPr>
            <a:r>
              <a:rPr lang="en-US" sz="1300" dirty="0">
                <a:solidFill>
                  <a:srgbClr val="FFFFFF"/>
                </a:solidFill>
                <a:latin typeface="Calibri" pitchFamily="34" charset="0"/>
                <a:ea typeface="Calibri" pitchFamily="34" charset="-122"/>
                <a:cs typeface="Calibri" pitchFamily="34" charset="-120"/>
              </a:rPr>
              <a:t>←  מנטרת כל סוג עבודה — DTSX, EXE, שירותים, XML דרך 4 אסטרטגיות סריקה</a:t>
            </a:r>
            <a:endParaRPr lang="en-US" sz="1300" dirty="0"/>
          </a:p>
        </p:txBody>
      </p:sp>
      <p:sp>
        <p:nvSpPr>
          <p:cNvPr id="6" name="Text 4"/>
          <p:cNvSpPr/>
          <p:nvPr/>
        </p:nvSpPr>
        <p:spPr>
          <a:xfrm>
            <a:off x="457200" y="2368296"/>
            <a:ext cx="8229600" cy="384048"/>
          </a:xfrm>
          <a:prstGeom prst="rect">
            <a:avLst/>
          </a:prstGeom>
          <a:noFill/>
          <a:ln/>
        </p:spPr>
        <p:txBody>
          <a:bodyPr wrap="square" rtlCol="0" anchor="ctr"/>
          <a:lstStyle/>
          <a:p>
            <a:pPr rtl="1" algn="r" indent="0" marL="0">
              <a:buNone/>
            </a:pPr>
            <a:r>
              <a:rPr lang="en-US" sz="1300" dirty="0">
                <a:solidFill>
                  <a:srgbClr val="FFFFFF"/>
                </a:solidFill>
                <a:latin typeface="Calibri" pitchFamily="34" charset="0"/>
                <a:ea typeface="Calibri" pitchFamily="34" charset="-122"/>
                <a:cs typeface="Calibri" pitchFamily="34" charset="-120"/>
              </a:rPr>
              <a:t>←  תיקון עצמי + מדיניות מורכבת מבטלים עבודה ידנית חוזרת</a:t>
            </a:r>
            <a:endParaRPr lang="en-US" sz="1300" dirty="0"/>
          </a:p>
        </p:txBody>
      </p:sp>
      <p:sp>
        <p:nvSpPr>
          <p:cNvPr id="7" name="Text 5"/>
          <p:cNvSpPr/>
          <p:nvPr/>
        </p:nvSpPr>
        <p:spPr>
          <a:xfrm>
            <a:off x="457200" y="2807208"/>
            <a:ext cx="8229600" cy="384048"/>
          </a:xfrm>
          <a:prstGeom prst="rect">
            <a:avLst/>
          </a:prstGeom>
          <a:noFill/>
          <a:ln/>
        </p:spPr>
        <p:txBody>
          <a:bodyPr wrap="square" rtlCol="0" anchor="ctr"/>
          <a:lstStyle/>
          <a:p>
            <a:pPr rtl="1" algn="r" indent="0" marL="0">
              <a:buNone/>
            </a:pPr>
            <a:r>
              <a:rPr lang="en-US" sz="1300" dirty="0">
                <a:solidFill>
                  <a:srgbClr val="FFFFFF"/>
                </a:solidFill>
                <a:latin typeface="Calibri" pitchFamily="34" charset="0"/>
                <a:ea typeface="Calibri" pitchFamily="34" charset="-122"/>
                <a:cs typeface="Calibri" pitchFamily="34" charset="-120"/>
              </a:rPr>
              <a:t>←  אימות מלא עם החלפת סיסמה — אבטחה מובנית, לא מוצמדת</a:t>
            </a:r>
            <a:endParaRPr lang="en-US" sz="1300" dirty="0"/>
          </a:p>
        </p:txBody>
      </p:sp>
      <p:sp>
        <p:nvSpPr>
          <p:cNvPr id="8" name="Text 6"/>
          <p:cNvSpPr/>
          <p:nvPr/>
        </p:nvSpPr>
        <p:spPr>
          <a:xfrm>
            <a:off x="457200" y="3246120"/>
            <a:ext cx="8229600" cy="384048"/>
          </a:xfrm>
          <a:prstGeom prst="rect">
            <a:avLst/>
          </a:prstGeom>
          <a:noFill/>
          <a:ln/>
        </p:spPr>
        <p:txBody>
          <a:bodyPr wrap="square" rtlCol="0" anchor="ctr"/>
          <a:lstStyle/>
          <a:p>
            <a:pPr rtl="1" algn="r" indent="0" marL="0">
              <a:buNone/>
            </a:pPr>
            <a:r>
              <a:rPr lang="en-US" sz="1300" dirty="0">
                <a:solidFill>
                  <a:srgbClr val="FFFFFF"/>
                </a:solidFill>
                <a:latin typeface="Calibri" pitchFamily="34" charset="0"/>
                <a:ea typeface="Calibri" pitchFamily="34" charset="-122"/>
                <a:cs typeface="Calibri" pitchFamily="34" charset="-120"/>
              </a:rPr>
              <a:t>←  יומן פעולות בלתי ניתן לשינוי — שקיפות מלאה על כל פעולה במערכת</a:t>
            </a:r>
            <a:endParaRPr lang="en-US" sz="1300" dirty="0"/>
          </a:p>
        </p:txBody>
      </p:sp>
      <p:sp>
        <p:nvSpPr>
          <p:cNvPr id="9" name="Text 7"/>
          <p:cNvSpPr/>
          <p:nvPr/>
        </p:nvSpPr>
        <p:spPr>
          <a:xfrm>
            <a:off x="457200" y="3685032"/>
            <a:ext cx="8229600" cy="384048"/>
          </a:xfrm>
          <a:prstGeom prst="rect">
            <a:avLst/>
          </a:prstGeom>
          <a:noFill/>
          <a:ln/>
        </p:spPr>
        <p:txBody>
          <a:bodyPr wrap="square" rtlCol="0" anchor="ctr"/>
          <a:lstStyle/>
          <a:p>
            <a:pPr rtl="1" algn="r" indent="0" marL="0">
              <a:buNone/>
            </a:pPr>
            <a:r>
              <a:rPr lang="en-US" sz="1300" dirty="0">
                <a:solidFill>
                  <a:srgbClr val="FFFFFF"/>
                </a:solidFill>
                <a:latin typeface="Calibri" pitchFamily="34" charset="0"/>
                <a:ea typeface="Calibri" pitchFamily="34" charset="-122"/>
                <a:cs typeface="Calibri" pitchFamily="34" charset="-120"/>
              </a:rPr>
              <a:t>←  הארכיטקטורה מוכנה לשדרוג LLM/ML כשיגיע הזמן</a:t>
            </a:r>
            <a:endParaRPr lang="en-US" sz="1300" dirty="0"/>
          </a:p>
        </p:txBody>
      </p:sp>
      <p:sp>
        <p:nvSpPr>
          <p:cNvPr id="10" name="Shape 8"/>
          <p:cNvSpPr/>
          <p:nvPr/>
        </p:nvSpPr>
        <p:spPr>
          <a:xfrm>
            <a:off x="731520" y="4251960"/>
            <a:ext cx="7680960" cy="0"/>
          </a:xfrm>
          <a:prstGeom prst="line">
            <a:avLst/>
          </a:prstGeom>
          <a:noFill/>
          <a:ln w="19050">
            <a:solidFill>
              <a:srgbClr val="2196F3"/>
            </a:solidFill>
            <a:prstDash val="solid"/>
          </a:ln>
        </p:spPr>
      </p:sp>
      <p:sp>
        <p:nvSpPr>
          <p:cNvPr id="11" name="Text 9"/>
          <p:cNvSpPr/>
          <p:nvPr/>
        </p:nvSpPr>
        <p:spPr>
          <a:xfrm>
            <a:off x="457200" y="4343400"/>
            <a:ext cx="8229600" cy="320040"/>
          </a:xfrm>
          <a:prstGeom prst="rect">
            <a:avLst/>
          </a:prstGeom>
          <a:noFill/>
          <a:ln/>
        </p:spPr>
        <p:txBody>
          <a:bodyPr wrap="square" rtlCol="0" anchor="ctr"/>
          <a:lstStyle/>
          <a:p>
            <a:pPr rtl="1" algn="ctr" indent="0" marL="0">
              <a:buNone/>
            </a:pPr>
            <a:r>
              <a:rPr lang="en-US" sz="1200" i="1" dirty="0">
                <a:solidFill>
                  <a:srgbClr val="3B9EC9"/>
                </a:solidFill>
                <a:latin typeface="Calibri" pitchFamily="34" charset="0"/>
                <a:ea typeface="Calibri" pitchFamily="34" charset="-122"/>
                <a:cs typeface="Calibri" pitchFamily="34" charset="-120"/>
              </a:rPr>
              <a:t>MAIA — Monitoring Assistant &amp; Intelligent Automation</a:t>
            </a:r>
            <a:endParaRPr lang="en-US" sz="1200" dirty="0"/>
          </a:p>
        </p:txBody>
      </p:sp>
      <p:sp>
        <p:nvSpPr>
          <p:cNvPr id="12" name="Text 10"/>
          <p:cNvSpPr/>
          <p:nvPr/>
        </p:nvSpPr>
        <p:spPr>
          <a:xfrm>
            <a:off x="457200" y="4663440"/>
            <a:ext cx="8229600" cy="228600"/>
          </a:xfrm>
          <a:prstGeom prst="rect">
            <a:avLst/>
          </a:prstGeom>
          <a:noFill/>
          <a:ln/>
        </p:spPr>
        <p:txBody>
          <a:bodyPr wrap="square" rtlCol="0" anchor="ctr"/>
          <a:lstStyle/>
          <a:p>
            <a:pPr rtl="1" algn="ctr" indent="0" marL="0">
              <a:buNone/>
            </a:pPr>
            <a:r>
              <a:rPr lang="en-US" sz="900" dirty="0">
                <a:solidFill>
                  <a:srgbClr val="6B7B8B"/>
                </a:solidFill>
                <a:latin typeface="Calibri" pitchFamily="34" charset="0"/>
                <a:ea typeface="Calibri" pitchFamily="34" charset="-122"/>
                <a:cs typeface="Calibri" pitchFamily="34" charset="-120"/>
              </a:rPr>
              <a:t>גרסה 2.2 · יולי 2026  |  סודי — לשימוש פנימי בלבד</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MAIA — סקירה למנהלים</dc:title>
  <dc:subject>PptxGenJS Presentation</dc:subject>
  <dc:creator>MAIA Engineering</dc:creator>
  <cp:lastModifiedBy>MAIA Engineering</cp:lastModifiedBy>
  <cp:revision>1</cp:revision>
  <dcterms:created xsi:type="dcterms:W3CDTF">2026-07-18T08:54:51Z</dcterms:created>
  <dcterms:modified xsi:type="dcterms:W3CDTF">2026-07-18T08:54:51Z</dcterms:modified>
</cp:coreProperties>
</file>